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9"/>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ISOT Accuracy (%)</c:v>
                </c:pt>
              </c:strCache>
            </c:strRef>
          </c:tx>
          <c:spPr>
            <a:solidFill>
              <a:srgbClr val="1D4ED8"/>
            </a:solidFill>
            <a:effectLst/>
          </c:spPr>
          <c:invertIfNegative val="0"/>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Naïve Bayes</c:v>
                  </c:pt>
                  <c:pt idx="1">
                    <c:v>SVM</c:v>
                  </c:pt>
                  <c:pt idx="2">
                    <c:v>LSTM</c:v>
                  </c:pt>
                  <c:pt idx="3">
                    <c:v>BiLSTM</c:v>
                  </c:pt>
                  <c:pt idx="4">
                    <c:v>ALBERT</c:v>
                  </c:pt>
                  <c:pt idx="5">
                    <c:v>RoBERTa</c:v>
                  </c:pt>
                </c:lvl>
              </c:multiLvlStrCache>
            </c:multiLvlStrRef>
          </c:cat>
          <c:val>
            <c:numRef>
              <c:f>Sheet1!$B$2:$B$7</c:f>
              <c:numCache>
                <c:formatCode>General</c:formatCode>
                <c:ptCount val="6"/>
                <c:pt idx="0">
                  <c:v>93.51</c:v>
                </c:pt>
                <c:pt idx="1">
                  <c:v>99.16</c:v>
                </c:pt>
                <c:pt idx="2">
                  <c:v>97.3</c:v>
                </c:pt>
                <c:pt idx="3">
                  <c:v>98.6</c:v>
                </c:pt>
                <c:pt idx="4">
                  <c:v>99.31</c:v>
                </c:pt>
                <c:pt idx="5">
                  <c:v>99.78</c:v>
                </c:pt>
              </c:numCache>
            </c:numRef>
          </c:val>
        </c:ser>
        <c:ser>
          <c:idx val="1"/>
          <c:order val="1"/>
          <c:tx>
            <c:strRef>
              <c:f>Sheet1!$C$1</c:f>
              <c:strCache>
                <c:ptCount val="1"/>
                <c:pt idx="0">
                  <c:v>F&amp;R News Accuracy (%)</c:v>
                </c:pt>
              </c:strCache>
            </c:strRef>
          </c:tx>
          <c:spPr>
            <a:solidFill>
              <a:srgbClr val="38BDF8"/>
            </a:solidFill>
            <a:effectLst/>
          </c:spPr>
          <c:invertIfNegative val="0"/>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Naïve Bayes</c:v>
                  </c:pt>
                  <c:pt idx="1">
                    <c:v>SVM</c:v>
                  </c:pt>
                  <c:pt idx="2">
                    <c:v>LSTM</c:v>
                  </c:pt>
                  <c:pt idx="3">
                    <c:v>BiLSTM</c:v>
                  </c:pt>
                  <c:pt idx="4">
                    <c:v>ALBERT</c:v>
                  </c:pt>
                  <c:pt idx="5">
                    <c:v>RoBERTa</c:v>
                  </c:pt>
                </c:lvl>
              </c:multiLvlStrCache>
            </c:multiLvlStrRef>
          </c:cat>
          <c:val>
            <c:numRef>
              <c:f>Sheet1!$C$2:$C$7</c:f>
              <c:numCache>
                <c:formatCode>General</c:formatCode>
                <c:ptCount val="6"/>
                <c:pt idx="0">
                  <c:v>91.2</c:v>
                </c:pt>
                <c:pt idx="1">
                  <c:v>98.7</c:v>
                </c:pt>
                <c:pt idx="2">
                  <c:v>96.8</c:v>
                </c:pt>
                <c:pt idx="3">
                  <c:v>97.5</c:v>
                </c:pt>
                <c:pt idx="4">
                  <c:v>99</c:v>
                </c:pt>
                <c:pt idx="5">
                  <c:v>99.5</c:v>
                </c:pt>
              </c:numCache>
            </c:numRef>
          </c:val>
        </c:ser>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1"/>
          <c:min val="8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0F6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esteemed professors and examiners. I am Manan Gupta, and together with my partner Deepanshu, I am presenting our B.Tech Minor Project titled "Fake News Detection Using Machine Learning and Deep Learning Approaches." This project was carried out under the supervision of Dr. Amit Kumar Nandanwar and Dr. Supriyo Mandal. In this presentation, we will cover our motivation, methodology, and a comprehensive comparative evaluation of six algorithms across five datasets. Our most significant finding — which we will build up to — is that the quality of text embeddings matters more than how complex your classifier architecture is. Let us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problem we are addressing is the explosive growth of misinformation in the digital age. Digitalization has effectively removed the traditional gatekeeping role of professional journalism. Today, anyone can broadcast any content to millions instantly. We have real-world evidence of the consequences: during the last weeks of the 2016 US presidential election, fake news stories on Facebook generated more engagement than top real news stories. During the COVID-19 pandemic, vaccine misinformation directly contributed to public health complacency. The core challenge is scale — fact-checkers cannot manually verify the millions of pieces of content published every single day. This is why automated, machine-learning-based detection systems are critically needed. Our project directly addresses this by building and evaluating such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reviewed the existing literature — covering over 30 papers — we identified a critical and fundamental gap. Almost every prior study evaluates just one model on one dataset. For example, one paper tests BERT on ISOT, another tests SVM on LIAR. Because preprocessing steps and evaluation metrics differ between these papers, it is essentially impossible to make reliable cross-study comparisons. Our project directly addresses this gap by running all six algorithms — spanning three generations of NLP — under the exact same experimental conditions: the same preprocessing pipeline, the same train-test split ratios, and the same evaluation metrics. This ensures our comparisons are truly apples-to-apples, and our results can guide practitioners in choosing the right approach for their specific deployment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our system across five well-established benchmark datasets, deliberately chosen to cover the full spectrum of fake news characteristics. ISOT and Fake &amp; Real News each contain 45,000 long-form articles — these datasets have the strongest stylistic separation between real and fabricated content, so they provide the best-case scenario for our models. GossipCop adds 22,000 articles from the celebrity news domain, testing cross-domain generalization. The real challenge comes with LIAR — 12,800 short political statements averaging just 20 words each — and Twitter15 and Twitter16, which are social media tweets averaging only 15 words. These short-text datasets are where all our models struggle, because there simply is not enough linguistic signal in 15 words to reliably classify veracity. This deliberate variation in dataset characteristics allows us to draw meaningful conclusions about which models are robust across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preprocessing pipeline was designed to be uniform across all six algorithms and all five datasets. This is crucial for fair comparison. The six steps are applied in order. Step one removes URLs, which introduce random vocabulary noise into embeddings. Step two strips punctuation and numerics. Step three normalizes case — otherwise "Fake" and "fake" would map to different vocabulary entries. Step four is conditional: we remove English stopwords for the classical ML and recurrent models, but we intentionally retain them for RoBERTa and ALBERT. This is because transformer attention mechanisms can extract meaningful signals from function words like "the" and "is" in context — removing them would actually hurt performance. Step five tokenizes using the appropriate method: whitespace for classical models, and the model-native WordPiece or SentencePiece tokenizer for transformers. Finally, step six pads and truncates sequences to fixed lengths — 128 tokens for transformers and up to 2,000 for LSTMs. This uniform pipeline is what makes our cross-algorithm comparisons scientifically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three fundamentally different approaches to representing text as numerical features. The first is TF-IDF, a classical bag-of-words approach. It is efficient and produces a strong baseline, but it has no understanding of word meaning or word order. The second strategy uses static word embeddings — GloVe, pre-trained on 6 billion tokens, and Word2Vec Skip-Gram, which we trained from scratch on each corpus. These 100-dimensional dense vectors capture semantic relationships between words, but they are static — the word "bank" gets the same vector whether you mean a financial institution or a river bank. The third and most powerful strategy is contextual BERT-family embeddings used by RoBERTa and ALBERT. These 768-dimensional representations are dynamic — the same word gets different vectors depending on the surrounding sentence. This is a critical conceptual distinction, and as we will show in our results, moving up this embedding hierarchy has a far greater impact on performance than changing the classifier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and evaluated six algorithms spanning three generations of NLP. The first generation — classical machine learning — includes Multinomial Naïve Bayes using TF-IDF features, and a Linear SVM. Despite being the simplest approaches, these are not trivial: our SVM achieved 99.16% accuracy on ISOT, and it trains approximately 50 times faster than our transformers. The second generation uses recurrent neural networks. LSTM networks overcome the vanishing gradient problem using three gating mechanisms to selectively retain or discard information over long sequences. BiLSTM extends this by processing sequences in both directions simultaneously, capturing context that depends on what comes both before and after a specific word — particularly valuable for detecting contradictions within news articles. The third generation — transformer-based models — represents the state of the art. RoBERTa is an optimized version of BERT trained on much larger datasets and with larger batch sizes. ALBERT achieves comparable performance with 89% fewer parameters through parameter sharing across layers, making it highly efficient for deployment. Critically, all six models were evaluated under the exact same experimental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our results on the long-form datasets, ISOT and Fake &amp; Real News, all six models achieve very high performance. This is because these datasets contain full-length news articles with strong stylistic differences between real and fabricated content — fabricated news tends to use different vocabulary, sentence structure, and rhetorical patterns. Our top performer is RoBERTa with 99.78% accuracy on ISOT and 99.5% on Fake &amp; Real News. ALBERT is close behind at 99.31% and 99.0% respectively. What is particularly interesting is the performance of SVM — it achieves 99.16% accuracy on ISOT. That is only 0.62 percentage points below RoBERTa, but it trains roughly 50 times faster and requires only a fraction of the memory. For resource-constrained deployment environments, this makes SVM an extremely practical choice. Even Naïve Bayes, our simplest model, reaches 93.51% — demonstrating that long-form content has enough statistical signal that even simple probabilistic models can work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short-form datasets tell a very different story. On the LIAR dataset — containing 20-word political statements — even our best model, RoBERTa, only achieves 68.5% F1. This is a fundamentally harder problem: a short statement like "Unemployment is at an all-time high" carries very little stylistic signal. Determining its veracity requires external knowledge or fact-checking resources that our content-only models simply do not have access to. The performance ceiling on LIAR with content-only models appears to be around 68-69%. GossipCop, however, tells a more encouraging story: despite being a completely different domain from the training data — celebrity gossip versus political news — RoBERTa achieves 96.1% F1. This demonstrates strong cross-domain generalization when articles are long enough. The Twitter datasets are the most extreme case, with models peaking at 79.4% F1 for RoBERTa. The state-of-the-art on these datasets uses graph-based propagation tree structures — essentially modeling how a rumor spreads through the social network — and achieves 82.7% F1. Our content-only approach cannot match this, which is an acknowledged limitation and a direction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our ROC curves and confusion matrices gives us deeper insight beyond raw accuracy numbers. On the ISOT dataset, both the LSTM and SVM achieve AUC scores of 1.00 — meaning they can perfectly separate real from fake articles when you adjust the classification threshold. Naïve Bayes achieves an AUC of 0.98. These are exceptional results. However, on the LIAR dataset, AUC drops dramatically to 0.60 to 0.64. This is a critical finding: when both the simpler Naïve Bayes and the sophisticated RoBERTa hit the same AUC ceiling, it tells us that the limiting factor is the data itself — not the model. The confusion matrices reveal something equally important. On GossipCop, the GloVe LSTM produced 510 false negatives — fake articles classified as real. When we switch to Word2Vec embeddings, that number drops to just 7. The architecture is the same; only the embedding changed. This is concrete, numerical proof that embedding quality directly controls detection errors, independent of the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finding of our entire study — the one that should fundamentally change how practitioners approach building fake news detection systems. When we took the exact same BiLSTM architecture and simply upgraded the embedding from TF-IDF to BERT contextual embeddings, the F1 score on the Twitter15 dataset improved by 10.3 percentage points. To put that in perspective, that single change to the input representation produced a larger gain than any architectural change we tested. Going from Naïve Bayes to LSTM — two completely different model families — gave us a smaller improvement than simply providing better input features. The implication is clear: if you are building a fake news detection system and you have limited computational budget, spend it on better embeddings, not on a more complex classifier. A simple SVM with BERT embeddings will outperform a sophisticated BiLSTM with TF-IDF. This challenges the prevailing research trend of always reaching for the most complex architecture, and instead advocates for a representations-first design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study has produced several key, actionable findings. First, transformer models — particularly RoBERTa — definitively outperform all alternatives, achieving 99.78% on ISOT and 96.3% on GossipCop. If accuracy is your primary concern and you have computational resources, this is your choice. Second, for resource-constrained environments, Linear SVM with TF-IDF is surprisingly competitive, reaching 99.16% on ISOT at a fraction of the cost. Third, and most importantly, embedding quality matters more than classifier complexity. A 10.3% F1 gain from simply upgrading to BERT embeddings on the same BiLSTM architecture is our central contribution to the field. For deployment, we recommend: RoBERTa or ALBERT for high-accuracy production systems; Linear SVM for edge devices or real-time classification; and ALBERT specifically when parameter efficiency is critical. For future work, we identify three promising directions: incorporating network propagation tree structures for social media, extending to multimodal fake news detection that combines text and images, and fine-tuning multilingual BERT variants for global deployment. Thank you for your attention —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live predictions from our trained RoBERTa model on held-out test samples. Looking at samples 4, 6, 7, and 8 — all labeled REAL — you can immediately spot the pattern: they all begin with a Reuters dateline like "SAN FRANCISCO (Reuters)" or "WASHINGTON (Reuters)". They cite named officials and use formal, neutral journalistic language. Contrast this with samples 1, 2, 3, and 5 — labeled FAKE. These use emotionally charged language like "chaos", "cover it up", "twisted reasoning", and "huge homophobe". There is no wire service attribution, no dateline, and the tone is clearly partisan rather than journalistic. This demonstrates that our model has successfully learned these subtle but powerful linguistic patterns — the difference between objective reporting and fabricated, opinionated content. This is exactly the kind of signal that TF-IDF and transformer embeddings capture differently: TF-IDF picks up word frequency signals, while BERT contextual embeddings capture the nuanced tone and framing of sentences, which is why upgrading embeddings gave us that critical +10.3% F1 improvement.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45"/>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rtlCol="0" anchor="ctr"/>
          <a:lstStyle/>
          <a:p>
            <a:pPr algn="ctr" indent="0" marL="0">
              <a:buNone/>
            </a:pPr>
            <a:r>
              <a:rPr lang="en-US" sz="1000" b="1" spc="150" kern="0" dirty="0">
                <a:solidFill>
                  <a:srgbClr val="93C5FD"/>
                </a:solidFill>
                <a:latin typeface="Calibri" pitchFamily="34" charset="0"/>
                <a:ea typeface="Calibri" pitchFamily="34" charset="-122"/>
                <a:cs typeface="Calibri" pitchFamily="34" charset="-120"/>
              </a:rPr>
              <a:t>INDIAN INSTITUTE OF INFORMATION TECHNOLOGY, BHOPAL</a:t>
            </a:r>
            <a:endParaRPr lang="en-US" sz="1000" dirty="0"/>
          </a:p>
        </p:txBody>
      </p:sp>
      <p:sp>
        <p:nvSpPr>
          <p:cNvPr id="3" name="Shape 1"/>
          <p:cNvSpPr/>
          <p:nvPr/>
        </p:nvSpPr>
        <p:spPr>
          <a:xfrm>
            <a:off x="3200400" y="512064"/>
            <a:ext cx="2743200" cy="27432"/>
          </a:xfrm>
          <a:prstGeom prst="rect">
            <a:avLst/>
          </a:prstGeom>
          <a:solidFill>
            <a:srgbClr val="3B82F6"/>
          </a:solidFill>
          <a:ln/>
        </p:spPr>
        <p:txBody>
          <a:bodyPr/>
          <a:p/>
        </p:txBody>
      </p:sp>
      <p:sp>
        <p:nvSpPr>
          <p:cNvPr id="4" name="Text 2"/>
          <p:cNvSpPr/>
          <p:nvPr/>
        </p:nvSpPr>
        <p:spPr>
          <a:xfrm>
            <a:off x="365760" y="621792"/>
            <a:ext cx="8412480" cy="658368"/>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FAKE NEWS DETECTION</a:t>
            </a:r>
            <a:endParaRPr lang="en-US" sz="3800" dirty="0"/>
          </a:p>
        </p:txBody>
      </p:sp>
      <p:sp>
        <p:nvSpPr>
          <p:cNvPr id="5" name="Text 3"/>
          <p:cNvSpPr/>
          <p:nvPr/>
        </p:nvSpPr>
        <p:spPr>
          <a:xfrm>
            <a:off x="365760" y="1280160"/>
            <a:ext cx="8412480" cy="384048"/>
          </a:xfrm>
          <a:prstGeom prst="rect">
            <a:avLst/>
          </a:prstGeom>
          <a:noFill/>
          <a:ln/>
        </p:spPr>
        <p:txBody>
          <a:bodyPr wrap="square" rtlCol="0" anchor="ctr"/>
          <a:lstStyle/>
          <a:p>
            <a:pPr algn="ctr" indent="0" marL="0">
              <a:buNone/>
            </a:pPr>
            <a:r>
              <a:rPr lang="en-US" sz="1700" dirty="0">
                <a:solidFill>
                  <a:srgbClr val="93C5FD"/>
                </a:solidFill>
                <a:latin typeface="Calibri" pitchFamily="34" charset="0"/>
                <a:ea typeface="Calibri" pitchFamily="34" charset="-122"/>
                <a:cs typeface="Calibri" pitchFamily="34" charset="-120"/>
              </a:rPr>
              <a:t>Using Machine Learning &amp; Deep Learning Approaches</a:t>
            </a:r>
            <a:endParaRPr lang="en-US" sz="1700" dirty="0"/>
          </a:p>
        </p:txBody>
      </p:sp>
      <p:sp>
        <p:nvSpPr>
          <p:cNvPr id="6" name="Shape 4"/>
          <p:cNvSpPr/>
          <p:nvPr/>
        </p:nvSpPr>
        <p:spPr>
          <a:xfrm>
            <a:off x="3200400" y="1737360"/>
            <a:ext cx="2743200" cy="27432"/>
          </a:xfrm>
          <a:prstGeom prst="rect">
            <a:avLst/>
          </a:prstGeom>
          <a:solidFill>
            <a:srgbClr val="1D4ED8"/>
          </a:solidFill>
          <a:ln/>
        </p:spPr>
        <p:txBody>
          <a:bodyPr/>
          <a:p/>
        </p:txBody>
      </p:sp>
      <p:sp>
        <p:nvSpPr>
          <p:cNvPr id="10" name="Shape 8"/>
          <p:cNvSpPr/>
          <p:nvPr/>
        </p:nvSpPr>
        <p:spPr>
          <a:xfrm>
            <a:off x="502920" y="2971800"/>
            <a:ext cx="2560320" cy="1005840"/>
          </a:xfrm>
          <a:prstGeom prst="rect">
            <a:avLst/>
          </a:prstGeom>
          <a:solidFill>
            <a:srgbClr val="122050"/>
          </a:solidFill>
          <a:ln w="12700">
            <a:solidFill>
              <a:srgbClr val="1D4ED8"/>
            </a:solidFill>
            <a:prstDash val="solid"/>
          </a:ln>
        </p:spPr>
        <p:txBody>
          <a:bodyPr/>
          <a:p/>
        </p:txBody>
      </p:sp>
      <p:sp>
        <p:nvSpPr>
          <p:cNvPr id="11" name="Text 9"/>
          <p:cNvSpPr/>
          <p:nvPr/>
        </p:nvSpPr>
        <p:spPr>
          <a:xfrm>
            <a:off x="502920" y="2999232"/>
            <a:ext cx="2560320" cy="457200"/>
          </a:xfrm>
          <a:prstGeom prst="rect">
            <a:avLst/>
          </a:prstGeom>
          <a:noFill/>
          <a:ln/>
        </p:spPr>
        <p:txBody>
          <a:bodyPr wrap="square" lIns="0" tIns="0" rIns="0" bIns="0" rtlCol="0" anchor="ctr"/>
          <a:lstStyle/>
          <a:p>
            <a:pPr algn="ctr" indent="0" marL="0">
              <a:buNone/>
            </a:pPr>
            <a:r>
              <a:rPr lang="en-US" sz="3400" b="1" dirty="0">
                <a:solidFill>
                  <a:srgbClr val="3B82F6"/>
                </a:solidFill>
                <a:latin typeface="Calibri" pitchFamily="34" charset="0"/>
                <a:ea typeface="Calibri" pitchFamily="34" charset="-122"/>
                <a:cs typeface="Calibri" pitchFamily="34" charset="-120"/>
              </a:rPr>
              <a:t>6</a:t>
            </a:r>
            <a:endParaRPr lang="en-US" sz="3400" dirty="0"/>
          </a:p>
        </p:txBody>
      </p:sp>
      <p:sp>
        <p:nvSpPr>
          <p:cNvPr id="12" name="Text 10"/>
          <p:cNvSpPr/>
          <p:nvPr/>
        </p:nvSpPr>
        <p:spPr>
          <a:xfrm>
            <a:off x="502920" y="3438144"/>
            <a:ext cx="2560320" cy="502920"/>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Algorithms Compared</a:t>
            </a:r>
            <a:endParaRPr lang="en-US" sz="850" dirty="0"/>
          </a:p>
          <a:p>
            <a:pPr algn="ctr" indent="0" marL="0">
              <a:buNone/>
            </a:pPr>
            <a:r>
              <a:rPr lang="en-US" sz="850" dirty="0">
                <a:solidFill>
                  <a:srgbClr val="93C5FD"/>
                </a:solidFill>
                <a:latin typeface="Calibri" pitchFamily="34" charset="0"/>
                <a:ea typeface="Calibri" pitchFamily="34" charset="-122"/>
                <a:cs typeface="Calibri" pitchFamily="34" charset="-120"/>
              </a:rPr>
              <a:t>NB · SVM · LSTM · BiLSTM · RoBERTa · ALBERT</a:t>
            </a:r>
            <a:endParaRPr lang="en-US" sz="850" dirty="0"/>
          </a:p>
        </p:txBody>
      </p:sp>
      <p:sp>
        <p:nvSpPr>
          <p:cNvPr id="13" name="Shape 11"/>
          <p:cNvSpPr/>
          <p:nvPr/>
        </p:nvSpPr>
        <p:spPr>
          <a:xfrm>
            <a:off x="3291840" y="2971800"/>
            <a:ext cx="2560320" cy="1005840"/>
          </a:xfrm>
          <a:prstGeom prst="rect">
            <a:avLst/>
          </a:prstGeom>
          <a:solidFill>
            <a:srgbClr val="122050"/>
          </a:solidFill>
          <a:ln w="12700">
            <a:solidFill>
              <a:srgbClr val="1D4ED8"/>
            </a:solidFill>
            <a:prstDash val="solid"/>
          </a:ln>
        </p:spPr>
        <p:txBody>
          <a:bodyPr/>
          <a:p/>
        </p:txBody>
      </p:sp>
      <p:sp>
        <p:nvSpPr>
          <p:cNvPr id="14" name="Text 12"/>
          <p:cNvSpPr/>
          <p:nvPr/>
        </p:nvSpPr>
        <p:spPr>
          <a:xfrm>
            <a:off x="3291840" y="2999232"/>
            <a:ext cx="2560320" cy="457200"/>
          </a:xfrm>
          <a:prstGeom prst="rect">
            <a:avLst/>
          </a:prstGeom>
          <a:noFill/>
          <a:ln/>
        </p:spPr>
        <p:txBody>
          <a:bodyPr wrap="square" lIns="0" tIns="0" rIns="0" bIns="0" rtlCol="0" anchor="ctr"/>
          <a:lstStyle/>
          <a:p>
            <a:pPr algn="ctr" indent="0" marL="0">
              <a:buNone/>
            </a:pPr>
            <a:r>
              <a:rPr lang="en-US" sz="3400" b="1" dirty="0">
                <a:solidFill>
                  <a:srgbClr val="3B82F6"/>
                </a:solidFill>
                <a:latin typeface="Calibri" pitchFamily="34" charset="0"/>
                <a:ea typeface="Calibri" pitchFamily="34" charset="-122"/>
                <a:cs typeface="Calibri" pitchFamily="34" charset="-120"/>
              </a:rPr>
              <a:t>5</a:t>
            </a:r>
            <a:endParaRPr lang="en-US" sz="3400" dirty="0"/>
          </a:p>
        </p:txBody>
      </p:sp>
      <p:sp>
        <p:nvSpPr>
          <p:cNvPr id="15" name="Text 13"/>
          <p:cNvSpPr/>
          <p:nvPr/>
        </p:nvSpPr>
        <p:spPr>
          <a:xfrm>
            <a:off x="3291840" y="3438144"/>
            <a:ext cx="2560320" cy="502920"/>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Benchmark Datasets</a:t>
            </a:r>
            <a:endParaRPr lang="en-US" sz="850" dirty="0"/>
          </a:p>
          <a:p>
            <a:pPr algn="ctr" indent="0" marL="0">
              <a:buNone/>
            </a:pPr>
            <a:r>
              <a:rPr lang="en-US" sz="850" dirty="0">
                <a:solidFill>
                  <a:srgbClr val="93C5FD"/>
                </a:solidFill>
                <a:latin typeface="Calibri" pitchFamily="34" charset="0"/>
                <a:ea typeface="Calibri" pitchFamily="34" charset="-122"/>
                <a:cs typeface="Calibri" pitchFamily="34" charset="-120"/>
              </a:rPr>
              <a:t>ISOT · F&amp;R · LIAR · GossipCop · Twitter15/16</a:t>
            </a:r>
            <a:endParaRPr lang="en-US" sz="850" dirty="0"/>
          </a:p>
        </p:txBody>
      </p:sp>
      <p:sp>
        <p:nvSpPr>
          <p:cNvPr id="16" name="Shape 14"/>
          <p:cNvSpPr/>
          <p:nvPr/>
        </p:nvSpPr>
        <p:spPr>
          <a:xfrm>
            <a:off x="6080760" y="2971800"/>
            <a:ext cx="2560320" cy="1005840"/>
          </a:xfrm>
          <a:prstGeom prst="rect">
            <a:avLst/>
          </a:prstGeom>
          <a:solidFill>
            <a:srgbClr val="122050"/>
          </a:solidFill>
          <a:ln w="12700">
            <a:solidFill>
              <a:srgbClr val="1D4ED8"/>
            </a:solidFill>
            <a:prstDash val="solid"/>
          </a:ln>
        </p:spPr>
        <p:txBody>
          <a:bodyPr/>
          <a:p/>
        </p:txBody>
      </p:sp>
      <p:sp>
        <p:nvSpPr>
          <p:cNvPr id="17" name="Text 15"/>
          <p:cNvSpPr/>
          <p:nvPr/>
        </p:nvSpPr>
        <p:spPr>
          <a:xfrm>
            <a:off x="6080760" y="2999232"/>
            <a:ext cx="2560320" cy="457200"/>
          </a:xfrm>
          <a:prstGeom prst="rect">
            <a:avLst/>
          </a:prstGeom>
          <a:noFill/>
          <a:ln/>
        </p:spPr>
        <p:txBody>
          <a:bodyPr wrap="square" lIns="0" tIns="0" rIns="0" bIns="0" rtlCol="0" anchor="ctr"/>
          <a:lstStyle/>
          <a:p>
            <a:pPr algn="ctr" indent="0" marL="0">
              <a:buNone/>
            </a:pPr>
            <a:r>
              <a:rPr lang="en-US" sz="3400" b="1" dirty="0">
                <a:solidFill>
                  <a:srgbClr val="3B82F6"/>
                </a:solidFill>
                <a:latin typeface="Calibri" pitchFamily="34" charset="0"/>
                <a:ea typeface="Calibri" pitchFamily="34" charset="-122"/>
                <a:cs typeface="Calibri" pitchFamily="34" charset="-120"/>
              </a:rPr>
              <a:t>3</a:t>
            </a:r>
            <a:endParaRPr lang="en-US" sz="3400" dirty="0"/>
          </a:p>
        </p:txBody>
      </p:sp>
      <p:sp>
        <p:nvSpPr>
          <p:cNvPr id="18" name="Text 16"/>
          <p:cNvSpPr/>
          <p:nvPr/>
        </p:nvSpPr>
        <p:spPr>
          <a:xfrm>
            <a:off x="6080760" y="3438144"/>
            <a:ext cx="2560320" cy="502920"/>
          </a:xfrm>
          <a:prstGeom prst="rect">
            <a:avLst/>
          </a:prstGeom>
          <a:noFill/>
          <a:ln/>
        </p:spPr>
        <p:txBody>
          <a:bodyPr wrap="square" lIns="0" tIns="0" rIns="0" bIns="0" rtlCol="0" anchor="ctr"/>
          <a:lstStyle/>
          <a:p>
            <a:pPr algn="ctr" indent="0" marL="0">
              <a:buNone/>
            </a:pPr>
            <a:r>
              <a:rPr lang="en-US" sz="850" dirty="0">
                <a:solidFill>
                  <a:srgbClr val="93C5FD"/>
                </a:solidFill>
                <a:latin typeface="Calibri" pitchFamily="34" charset="0"/>
                <a:ea typeface="Calibri" pitchFamily="34" charset="-122"/>
                <a:cs typeface="Calibri" pitchFamily="34" charset="-120"/>
              </a:rPr>
              <a:t>Embedding Strategies</a:t>
            </a:r>
            <a:endParaRPr lang="en-US" sz="850" dirty="0"/>
          </a:p>
          <a:p>
            <a:pPr algn="ctr" indent="0" marL="0">
              <a:buNone/>
            </a:pPr>
            <a:r>
              <a:rPr lang="en-US" sz="850" dirty="0">
                <a:solidFill>
                  <a:srgbClr val="93C5FD"/>
                </a:solidFill>
                <a:latin typeface="Calibri" pitchFamily="34" charset="0"/>
                <a:ea typeface="Calibri" pitchFamily="34" charset="-122"/>
                <a:cs typeface="Calibri" pitchFamily="34" charset="-120"/>
              </a:rPr>
              <a:t>TF-IDF · GloVe/Word2Vec · BERT Contextual</a:t>
            </a:r>
            <a:endParaRPr lang="en-US" sz="850" dirty="0"/>
          </a:p>
        </p:txBody>
      </p:sp>
      <p:sp>
        <p:nvSpPr>
          <p:cNvPr id="19" name="Text 17"/>
          <p:cNvSpPr/>
          <p:nvPr/>
        </p:nvSpPr>
        <p:spPr>
          <a:xfrm>
            <a:off x="365760" y="4818888"/>
            <a:ext cx="8412480" cy="219456"/>
          </a:xfrm>
          <a:prstGeom prst="rect">
            <a:avLst/>
          </a:prstGeom>
          <a:noFill/>
          <a:ln/>
        </p:spPr>
        <p:txBody>
          <a:bodyPr wrap="square" rtlCol="0" anchor="ctr"/>
          <a:lstStyle/>
          <a:p>
            <a:pPr algn="ctr" indent="0" marL="0">
              <a:buNone/>
            </a:pPr>
            <a:r>
              <a:rPr lang="en-US" sz="900" i="1" dirty="0">
                <a:solidFill>
                  <a:srgbClr val="3D5A8A"/>
                </a:solidFill>
                <a:latin typeface="Calibri" pitchFamily="34" charset="0"/>
                <a:ea typeface="Calibri" pitchFamily="34" charset="-122"/>
                <a:cs typeface="Calibri" pitchFamily="34" charset="-120"/>
              </a:rPr>
              <a:t>B.Tech Minor Project Report  ·  CSE  ·  IIIT Bhopal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Introduction &amp; Problem Statement</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Text 2"/>
          <p:cNvSpPr/>
          <p:nvPr/>
        </p:nvSpPr>
        <p:spPr>
          <a:xfrm>
            <a:off x="411480" y="731520"/>
            <a:ext cx="5120640" cy="4023360"/>
          </a:xfrm>
          <a:prstGeom prst="rect">
            <a:avLst/>
          </a:prstGeom>
          <a:noFill/>
          <a:ln/>
        </p:spPr>
        <p:txBody>
          <a:bodyPr wrap="square" rtlCol="0" anchor="t"/>
          <a:lstStyle/>
          <a:p>
            <a:pPr>
              <a:spcAft>
                <a:spcPts val="400"/>
              </a:spcAft>
            </a:pPr>
            <a:r>
              <a:rPr lang="en-US" sz="1300" dirty="0">
                <a:solidFill>
                  <a:srgbClr val="0F172A"/>
                </a:solidFill>
                <a:latin typeface="Calibri" pitchFamily="34" charset="0"/>
                <a:ea typeface="Calibri" pitchFamily="34" charset="-122"/>
                <a:cs typeface="Calibri" pitchFamily="34" charset="-120"/>
              </a:rPr>
              <a:t>Digitalization broke traditional journalism gatekeeping</a:t>
            </a:r>
            <a:endParaRPr lang="en-US" sz="1300" dirty="0"/>
          </a:p>
          <a:p>
            <a:pPr>
              <a:spcAft>
                <a:spcPts val="400"/>
              </a:spcAft>
            </a:pPr>
            <a:r>
              <a:rPr lang="en-US" sz="1300" dirty="0">
                <a:solidFill>
                  <a:srgbClr val="0F172A"/>
                </a:solidFill>
                <a:latin typeface="Calibri" pitchFamily="34" charset="0"/>
                <a:ea typeface="Calibri" pitchFamily="34" charset="-122"/>
                <a:cs typeface="Calibri" pitchFamily="34" charset="-120"/>
              </a:rPr>
              <a:t>Anyone can broadcast content to millions — instantly</a:t>
            </a:r>
            <a:endParaRPr lang="en-US" sz="1300" dirty="0"/>
          </a:p>
          <a:p>
            <a:pPr>
              <a:spcAft>
                <a:spcPts val="400"/>
              </a:spcAft>
            </a:pPr>
            <a:r>
              <a:rPr lang="en-US" sz="1300" dirty="0">
                <a:solidFill>
                  <a:srgbClr val="0F172A"/>
                </a:solidFill>
                <a:latin typeface="Calibri" pitchFamily="34" charset="0"/>
                <a:ea typeface="Calibri" pitchFamily="34" charset="-122"/>
                <a:cs typeface="Calibri" pitchFamily="34" charset="-120"/>
              </a:rPr>
              <a:t>2016 US Election: fake news outperformed real news online</a:t>
            </a:r>
            <a:endParaRPr lang="en-US" sz="1300" dirty="0"/>
          </a:p>
          <a:p>
            <a:pPr>
              <a:spcAft>
                <a:spcPts val="400"/>
              </a:spcAft>
            </a:pPr>
            <a:r>
              <a:rPr lang="en-US" sz="1300" dirty="0">
                <a:solidFill>
                  <a:srgbClr val="0F172A"/>
                </a:solidFill>
                <a:latin typeface="Calibri" pitchFamily="34" charset="0"/>
                <a:ea typeface="Calibri" pitchFamily="34" charset="-122"/>
                <a:cs typeface="Calibri" pitchFamily="34" charset="-120"/>
              </a:rPr>
              <a:t>COVID-19: vaccine misinformation caused public health harm</a:t>
            </a:r>
            <a:endParaRPr lang="en-US" sz="1300" dirty="0"/>
          </a:p>
          <a:p>
            <a:pPr>
              <a:spcAft>
                <a:spcPts val="400"/>
              </a:spcAft>
            </a:pPr>
            <a:r>
              <a:rPr lang="en-US" sz="1300" dirty="0">
                <a:solidFill>
                  <a:srgbClr val="0F172A"/>
                </a:solidFill>
                <a:latin typeface="Calibri" pitchFamily="34" charset="0"/>
                <a:ea typeface="Calibri" pitchFamily="34" charset="-122"/>
                <a:cs typeface="Calibri" pitchFamily="34" charset="-120"/>
              </a:rPr>
              <a:t>Brexit: false economic &amp; immigration claims spread virally</a:t>
            </a:r>
            <a:endParaRPr lang="en-US" sz="1300" dirty="0"/>
          </a:p>
          <a:p>
            <a:pPr>
              <a:spcAft>
                <a:spcPts val="400"/>
              </a:spcAft>
            </a:pPr>
            <a:r>
              <a:rPr lang="en-US" sz="1300" dirty="0">
                <a:solidFill>
                  <a:srgbClr val="0F172A"/>
                </a:solidFill>
                <a:latin typeface="Calibri" pitchFamily="34" charset="0"/>
                <a:ea typeface="Calibri" pitchFamily="34" charset="-122"/>
                <a:cs typeface="Calibri" pitchFamily="34" charset="-120"/>
              </a:rPr>
              <a:t>Manual fact-checking cannot scale to millions of posts/day</a:t>
            </a:r>
            <a:endParaRPr lang="en-US" sz="1300" dirty="0"/>
          </a:p>
        </p:txBody>
      </p:sp>
      <p:sp>
        <p:nvSpPr>
          <p:cNvPr id="5" name="Shape 3"/>
          <p:cNvSpPr/>
          <p:nvPr/>
        </p:nvSpPr>
        <p:spPr>
          <a:xfrm>
            <a:off x="5760720" y="777240"/>
            <a:ext cx="3017520" cy="804672"/>
          </a:xfrm>
          <a:prstGeom prst="rect">
            <a:avLst/>
          </a:prstGeom>
          <a:solidFill>
            <a:srgbClr val="EFF6FF"/>
          </a:solidFill>
          <a:ln w="10160">
            <a:solidFill>
              <a:srgbClr val="BFDBFE"/>
            </a:solidFill>
            <a:prstDash val="solid"/>
          </a:ln>
          <a:effectLst>
            <a:outerShdw sx="100000" sy="100000" kx="0" ky="0" algn="bl" rotWithShape="0" blurRad="63500" dist="25400" dir="8100000">
              <a:srgbClr val="000000">
                <a:alpha val="8000"/>
              </a:srgbClr>
            </a:outerShdw>
          </a:effectLst>
        </p:spPr>
      </p:sp>
      <p:sp>
        <p:nvSpPr>
          <p:cNvPr id="6" name="Text 4"/>
          <p:cNvSpPr/>
          <p:nvPr/>
        </p:nvSpPr>
        <p:spPr>
          <a:xfrm>
            <a:off x="5760720" y="832104"/>
            <a:ext cx="3017520" cy="457200"/>
          </a:xfrm>
          <a:prstGeom prst="rect">
            <a:avLst/>
          </a:prstGeom>
          <a:noFill/>
          <a:ln/>
        </p:spPr>
        <p:txBody>
          <a:bodyPr wrap="square" lIns="0" tIns="0" rIns="0" bIns="0" rtlCol="0" anchor="ctr"/>
          <a:lstStyle/>
          <a:p>
            <a:pPr algn="ctr" indent="0" marL="0">
              <a:buNone/>
            </a:pPr>
            <a:r>
              <a:rPr lang="en-US" sz="2800" b="1" dirty="0">
                <a:solidFill>
                  <a:srgbClr val="1D4ED8"/>
                </a:solidFill>
                <a:latin typeface="Calibri" pitchFamily="34" charset="0"/>
                <a:ea typeface="Calibri" pitchFamily="34" charset="-122"/>
                <a:cs typeface="Calibri" pitchFamily="34" charset="-120"/>
              </a:rPr>
              <a:t>1M+</a:t>
            </a:r>
            <a:endParaRPr lang="en-US" sz="2800" dirty="0"/>
          </a:p>
        </p:txBody>
      </p:sp>
      <p:sp>
        <p:nvSpPr>
          <p:cNvPr id="7" name="Text 5"/>
          <p:cNvSpPr/>
          <p:nvPr/>
        </p:nvSpPr>
        <p:spPr>
          <a:xfrm>
            <a:off x="5760720" y="1271016"/>
            <a:ext cx="3017520"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News articles published daily</a:t>
            </a:r>
            <a:endParaRPr lang="en-US" sz="1000" dirty="0"/>
          </a:p>
        </p:txBody>
      </p:sp>
      <p:sp>
        <p:nvSpPr>
          <p:cNvPr id="8" name="Shape 6"/>
          <p:cNvSpPr/>
          <p:nvPr/>
        </p:nvSpPr>
        <p:spPr>
          <a:xfrm>
            <a:off x="5760720" y="1709928"/>
            <a:ext cx="3017520" cy="804672"/>
          </a:xfrm>
          <a:prstGeom prst="rect">
            <a:avLst/>
          </a:prstGeom>
          <a:solidFill>
            <a:srgbClr val="FFF7ED"/>
          </a:solidFill>
          <a:ln w="10160">
            <a:solidFill>
              <a:srgbClr val="BFDBFE"/>
            </a:solidFill>
            <a:prstDash val="solid"/>
          </a:ln>
          <a:effectLst>
            <a:outerShdw sx="100000" sy="100000" kx="0" ky="0" algn="bl" rotWithShape="0" blurRad="63500" dist="25400" dir="8100000">
              <a:srgbClr val="000000">
                <a:alpha val="8000"/>
              </a:srgbClr>
            </a:outerShdw>
          </a:effectLst>
        </p:spPr>
      </p:sp>
      <p:sp>
        <p:nvSpPr>
          <p:cNvPr id="9" name="Text 7"/>
          <p:cNvSpPr/>
          <p:nvPr/>
        </p:nvSpPr>
        <p:spPr>
          <a:xfrm>
            <a:off x="5760720" y="1764792"/>
            <a:ext cx="3017520" cy="457200"/>
          </a:xfrm>
          <a:prstGeom prst="rect">
            <a:avLst/>
          </a:prstGeom>
          <a:noFill/>
          <a:ln/>
        </p:spPr>
        <p:txBody>
          <a:bodyPr wrap="square" lIns="0" tIns="0" rIns="0" bIns="0" rtlCol="0" anchor="ctr"/>
          <a:lstStyle/>
          <a:p>
            <a:pPr algn="ctr" indent="0" marL="0">
              <a:buNone/>
            </a:pPr>
            <a:r>
              <a:rPr lang="en-US" sz="2800" b="1" dirty="0">
                <a:solidFill>
                  <a:srgbClr val="B45309"/>
                </a:solidFill>
                <a:latin typeface="Calibri" pitchFamily="34" charset="0"/>
                <a:ea typeface="Calibri" pitchFamily="34" charset="-122"/>
                <a:cs typeface="Calibri" pitchFamily="34" charset="-120"/>
              </a:rPr>
              <a:t>~50%</a:t>
            </a:r>
            <a:endParaRPr lang="en-US" sz="2800" dirty="0"/>
          </a:p>
        </p:txBody>
      </p:sp>
      <p:sp>
        <p:nvSpPr>
          <p:cNvPr id="10" name="Text 8"/>
          <p:cNvSpPr/>
          <p:nvPr/>
        </p:nvSpPr>
        <p:spPr>
          <a:xfrm>
            <a:off x="5760720" y="2203704"/>
            <a:ext cx="3017520"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Social media shares are misinformation</a:t>
            </a:r>
            <a:endParaRPr lang="en-US" sz="1000" dirty="0"/>
          </a:p>
        </p:txBody>
      </p:sp>
      <p:sp>
        <p:nvSpPr>
          <p:cNvPr id="11" name="Shape 9"/>
          <p:cNvSpPr/>
          <p:nvPr/>
        </p:nvSpPr>
        <p:spPr>
          <a:xfrm>
            <a:off x="5760720" y="2642616"/>
            <a:ext cx="3017520" cy="804672"/>
          </a:xfrm>
          <a:prstGeom prst="rect">
            <a:avLst/>
          </a:prstGeom>
          <a:solidFill>
            <a:srgbClr val="F0FDF4"/>
          </a:solidFill>
          <a:ln w="10160">
            <a:solidFill>
              <a:srgbClr val="BFDBFE"/>
            </a:solidFill>
            <a:prstDash val="solid"/>
          </a:ln>
          <a:effectLst>
            <a:outerShdw sx="100000" sy="100000" kx="0" ky="0" algn="bl" rotWithShape="0" blurRad="63500" dist="25400" dir="8100000">
              <a:srgbClr val="000000">
                <a:alpha val="8000"/>
              </a:srgbClr>
            </a:outerShdw>
          </a:effectLst>
        </p:spPr>
      </p:sp>
      <p:sp>
        <p:nvSpPr>
          <p:cNvPr id="12" name="Text 10"/>
          <p:cNvSpPr/>
          <p:nvPr/>
        </p:nvSpPr>
        <p:spPr>
          <a:xfrm>
            <a:off x="5760720" y="2697480"/>
            <a:ext cx="3017520" cy="457200"/>
          </a:xfrm>
          <a:prstGeom prst="rect">
            <a:avLst/>
          </a:prstGeom>
          <a:noFill/>
          <a:ln/>
        </p:spPr>
        <p:txBody>
          <a:bodyPr wrap="square" lIns="0" tIns="0" rIns="0" bIns="0" rtlCol="0" anchor="ctr"/>
          <a:lstStyle/>
          <a:p>
            <a:pPr algn="ctr" indent="0" marL="0">
              <a:buNone/>
            </a:pPr>
            <a:r>
              <a:rPr lang="en-US" sz="2800" b="1" dirty="0">
                <a:solidFill>
                  <a:srgbClr val="059669"/>
                </a:solidFill>
                <a:latin typeface="Calibri" pitchFamily="34" charset="0"/>
                <a:ea typeface="Calibri" pitchFamily="34" charset="-122"/>
                <a:cs typeface="Calibri" pitchFamily="34" charset="-120"/>
              </a:rPr>
              <a:t>99.78%</a:t>
            </a:r>
            <a:endParaRPr lang="en-US" sz="2800" dirty="0"/>
          </a:p>
        </p:txBody>
      </p:sp>
      <p:sp>
        <p:nvSpPr>
          <p:cNvPr id="13" name="Text 11"/>
          <p:cNvSpPr/>
          <p:nvPr/>
        </p:nvSpPr>
        <p:spPr>
          <a:xfrm>
            <a:off x="5760720" y="3136392"/>
            <a:ext cx="3017520"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Our best model accuracy (RoBERTa, ISOT)</a:t>
            </a:r>
            <a:endParaRPr lang="en-US" sz="1000" dirty="0"/>
          </a:p>
        </p:txBody>
      </p:sp>
      <p:sp>
        <p:nvSpPr>
          <p:cNvPr id="14" name="Shape 12"/>
          <p:cNvSpPr/>
          <p:nvPr/>
        </p:nvSpPr>
        <p:spPr>
          <a:xfrm>
            <a:off x="411480" y="4206240"/>
            <a:ext cx="8366760" cy="685800"/>
          </a:xfrm>
          <a:prstGeom prst="rect">
            <a:avLst/>
          </a:prstGeom>
          <a:solidFill>
            <a:srgbClr val="DBEAFE"/>
          </a:solidFill>
          <a:ln w="12700">
            <a:solidFill>
              <a:srgbClr val="3B82F6"/>
            </a:solidFill>
            <a:prstDash val="solid"/>
          </a:ln>
        </p:spPr>
      </p:sp>
      <p:sp>
        <p:nvSpPr>
          <p:cNvPr id="15" name="Text 13"/>
          <p:cNvSpPr/>
          <p:nvPr/>
        </p:nvSpPr>
        <p:spPr>
          <a:xfrm>
            <a:off x="502920" y="4251960"/>
            <a:ext cx="8183880" cy="594360"/>
          </a:xfrm>
          <a:prstGeom prst="rect">
            <a:avLst/>
          </a:prstGeom>
          <a:noFill/>
          <a:ln/>
        </p:spPr>
        <p:txBody>
          <a:bodyPr wrap="square" rtlCol="0" anchor="ctr"/>
          <a:lstStyle/>
          <a:p>
            <a:pPr indent="0" marL="0">
              <a:buNone/>
            </a:pPr>
            <a:r>
              <a:rPr lang="en-US" sz="1150" i="1" dirty="0">
                <a:solidFill>
                  <a:srgbClr val="0B1E45"/>
                </a:solidFill>
                <a:latin typeface="Calibri" pitchFamily="34" charset="0"/>
                <a:ea typeface="Calibri" pitchFamily="34" charset="-122"/>
                <a:cs typeface="Calibri" pitchFamily="34" charset="-120"/>
              </a:rPr>
              <a:t>PROBLEM:  Build an automated, scalable system to classify news content as genuine or fake — across diverse domains, text lengths, and writing styles — with minimal computational resources.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Research Gap &amp; Objectives</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365760" y="731520"/>
            <a:ext cx="4023360" cy="4069080"/>
          </a:xfrm>
          <a:prstGeom prst="rect">
            <a:avLst/>
          </a:prstGeom>
          <a:solidFill>
            <a:srgbClr val="FEE2E2"/>
          </a:solidFill>
          <a:ln w="12700">
            <a:solidFill>
              <a:srgbClr val="DC2626"/>
            </a:solidFill>
            <a:prstDash val="solid"/>
          </a:ln>
        </p:spPr>
      </p:sp>
      <p:sp>
        <p:nvSpPr>
          <p:cNvPr id="5" name="Text 3"/>
          <p:cNvSpPr/>
          <p:nvPr/>
        </p:nvSpPr>
        <p:spPr>
          <a:xfrm>
            <a:off x="457200" y="804672"/>
            <a:ext cx="3840480" cy="320040"/>
          </a:xfrm>
          <a:prstGeom prst="rect">
            <a:avLst/>
          </a:prstGeom>
          <a:noFill/>
          <a:ln/>
        </p:spPr>
        <p:txBody>
          <a:bodyPr wrap="square"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Existing Research Gaps</a:t>
            </a:r>
            <a:endParaRPr lang="en-US" sz="1400" dirty="0"/>
          </a:p>
        </p:txBody>
      </p:sp>
      <p:sp>
        <p:nvSpPr>
          <p:cNvPr id="6" name="Text 4"/>
          <p:cNvSpPr/>
          <p:nvPr/>
        </p:nvSpPr>
        <p:spPr>
          <a:xfrm>
            <a:off x="502920" y="1188720"/>
            <a:ext cx="3749040" cy="3383280"/>
          </a:xfrm>
          <a:prstGeom prst="rect">
            <a:avLst/>
          </a:prstGeom>
          <a:noFill/>
          <a:ln/>
        </p:spPr>
        <p:txBody>
          <a:bodyPr wrap="square" rtlCol="0" anchor="t"/>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Most studies test ONE model on ONE dataset</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No standardized comparison across algorithm families</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Preprocessing varies — results not reproducible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Embedding strategies rarely benchmarked independently</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Long-form vs. short-text performance rarely compared</a:t>
            </a:r>
            <a:endParaRPr lang="en-US" sz="1200" dirty="0"/>
          </a:p>
        </p:txBody>
      </p:sp>
      <p:sp>
        <p:nvSpPr>
          <p:cNvPr id="7" name="Shape 5"/>
          <p:cNvSpPr/>
          <p:nvPr/>
        </p:nvSpPr>
        <p:spPr>
          <a:xfrm>
            <a:off x="4754880" y="731520"/>
            <a:ext cx="4023360" cy="4069080"/>
          </a:xfrm>
          <a:prstGeom prst="rect">
            <a:avLst/>
          </a:prstGeom>
          <a:solidFill>
            <a:srgbClr val="DCFCE7"/>
          </a:solidFill>
          <a:ln w="12700">
            <a:solidFill>
              <a:srgbClr val="059669"/>
            </a:solidFill>
            <a:prstDash val="solid"/>
          </a:ln>
        </p:spPr>
      </p:sp>
      <p:sp>
        <p:nvSpPr>
          <p:cNvPr id="8" name="Text 6"/>
          <p:cNvSpPr/>
          <p:nvPr/>
        </p:nvSpPr>
        <p:spPr>
          <a:xfrm>
            <a:off x="4846320" y="804672"/>
            <a:ext cx="3840480" cy="320040"/>
          </a:xfrm>
          <a:prstGeom prst="rect">
            <a:avLst/>
          </a:prstGeom>
          <a:noFill/>
          <a:ln/>
        </p:spPr>
        <p:txBody>
          <a:bodyPr wrap="square" rtlCol="0" anchor="ctr"/>
          <a:lstStyle/>
          <a:p>
            <a:pPr algn="ctr" indent="0" marL="0">
              <a:buNone/>
            </a:pPr>
            <a:r>
              <a:rPr lang="en-US" sz="1400" b="1" dirty="0">
                <a:solidFill>
                  <a:srgbClr val="059669"/>
                </a:solidFill>
                <a:latin typeface="Calibri" pitchFamily="34" charset="0"/>
                <a:ea typeface="Calibri" pitchFamily="34" charset="-122"/>
                <a:cs typeface="Calibri" pitchFamily="34" charset="-120"/>
              </a:rPr>
              <a:t>Our Research Objectives</a:t>
            </a:r>
            <a:endParaRPr lang="en-US" sz="1400" dirty="0"/>
          </a:p>
        </p:txBody>
      </p:sp>
      <p:sp>
        <p:nvSpPr>
          <p:cNvPr id="9" name="Text 7"/>
          <p:cNvSpPr/>
          <p:nvPr/>
        </p:nvSpPr>
        <p:spPr>
          <a:xfrm>
            <a:off x="4892040" y="1188720"/>
            <a:ext cx="3749040" cy="3383280"/>
          </a:xfrm>
          <a:prstGeom prst="rect">
            <a:avLst/>
          </a:prstGeom>
          <a:noFill/>
          <a:ln/>
        </p:spPr>
        <p:txBody>
          <a:bodyPr wrap="square" rtlCol="0" anchor="t"/>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Evaluate ALL 6 algorithms under identical conditions</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Same preprocessing pipeline across all datasets</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Compare 3 embedding strategies independently</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Test on 5 diverse benchmark datasets simultaneously</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Provide reproducible, deployment-ready insights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Datasets — Five Benchmark Corpora</a:t>
            </a:r>
            <a:endParaRPr lang="en-US" sz="2400" dirty="0"/>
          </a:p>
        </p:txBody>
      </p:sp>
      <p:sp>
        <p:nvSpPr>
          <p:cNvPr id="3" name="Shape 1"/>
          <p:cNvSpPr/>
          <p:nvPr/>
        </p:nvSpPr>
        <p:spPr>
          <a:xfrm>
            <a:off x="365760" y="594360"/>
            <a:ext cx="8412480" cy="22860"/>
          </a:xfrm>
          <a:prstGeom prst="rect">
            <a:avLst/>
          </a:prstGeom>
          <a:solidFill>
            <a:srgbClr val="3B82F6"/>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3200400"/>
        </p:xfrm>
        <a:graphic>
          <a:graphicData uri="http://schemas.openxmlformats.org/drawingml/2006/table">
            <a:tbl>
              <a:tblPr/>
              <a:tblGrid>
                <a:gridCol w="1682496"/>
                <a:gridCol w="1682496"/>
                <a:gridCol w="1682496"/>
                <a:gridCol w="1682496"/>
                <a:gridCol w="1682496"/>
              </a:tblGrid>
              <a:tr h="49377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Avg Length</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Split</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r>
              <a:tr h="493776">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ISOT</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45,000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~350–400 words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Political / General News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80-20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93776">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Fake &amp; Real News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45,000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~350–400 words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Political / General News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80-20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93776">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LIAR</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12,800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~20 words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Political Statements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80-20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93776">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GossipCop</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22,000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~800 words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Celebrity / Entertainment</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80-20</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93776">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Twitter15/16</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742 / 412</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 words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Social Media Tweets</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10-Fold CV</a:t>
                      </a:r>
                      <a:endParaRPr lang="en-US" sz="120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bl>
          </a:graphicData>
        </a:graphic>
      </p:graphicFrame>
      <p:sp>
        <p:nvSpPr>
          <p:cNvPr id="5" name="Shape 2"/>
          <p:cNvSpPr/>
          <p:nvPr/>
        </p:nvSpPr>
        <p:spPr>
          <a:xfrm>
            <a:off x="365760" y="4160520"/>
            <a:ext cx="2651760" cy="731520"/>
          </a:xfrm>
          <a:prstGeom prst="rect">
            <a:avLst/>
          </a:prstGeom>
          <a:solidFill>
            <a:srgbClr val="EFF6FF"/>
          </a:solidFill>
          <a:ln w="10160">
            <a:solidFill>
              <a:srgbClr val="1D4ED8"/>
            </a:solidFill>
            <a:prstDash val="solid"/>
          </a:ln>
        </p:spPr>
      </p:sp>
      <p:sp>
        <p:nvSpPr>
          <p:cNvPr id="6" name="Text 3"/>
          <p:cNvSpPr/>
          <p:nvPr/>
        </p:nvSpPr>
        <p:spPr>
          <a:xfrm>
            <a:off x="365760" y="4206240"/>
            <a:ext cx="2651760" cy="256032"/>
          </a:xfrm>
          <a:prstGeom prst="rect">
            <a:avLst/>
          </a:prstGeom>
          <a:noFill/>
          <a:ln/>
        </p:spPr>
        <p:txBody>
          <a:bodyPr wrap="square" lIns="0" tIns="0" rIns="0" bIns="0" rtlCol="0" anchor="ctr"/>
          <a:lstStyle/>
          <a:p>
            <a:pPr algn="ctr" indent="0" marL="0">
              <a:buNone/>
            </a:pPr>
            <a:r>
              <a:rPr lang="en-US" sz="1200" b="1" dirty="0">
                <a:solidFill>
                  <a:srgbClr val="1D4ED8"/>
                </a:solidFill>
                <a:latin typeface="Calibri" pitchFamily="34" charset="0"/>
                <a:ea typeface="Calibri" pitchFamily="34" charset="-122"/>
                <a:cs typeface="Calibri" pitchFamily="34" charset="-120"/>
              </a:rPr>
              <a:t>Long-Form</a:t>
            </a:r>
            <a:endParaRPr lang="en-US" sz="1200" dirty="0"/>
          </a:p>
        </p:txBody>
      </p:sp>
      <p:sp>
        <p:nvSpPr>
          <p:cNvPr id="7" name="Text 4"/>
          <p:cNvSpPr/>
          <p:nvPr/>
        </p:nvSpPr>
        <p:spPr>
          <a:xfrm>
            <a:off x="365760" y="4462272"/>
            <a:ext cx="2651760" cy="384048"/>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ISOT, F&amp;R, GossipCop — rich stylistic signal</a:t>
            </a:r>
            <a:endParaRPr lang="en-US" sz="1000" dirty="0"/>
          </a:p>
        </p:txBody>
      </p:sp>
      <p:sp>
        <p:nvSpPr>
          <p:cNvPr id="8" name="Shape 5"/>
          <p:cNvSpPr/>
          <p:nvPr/>
        </p:nvSpPr>
        <p:spPr>
          <a:xfrm>
            <a:off x="3200400" y="4160520"/>
            <a:ext cx="2651760" cy="731520"/>
          </a:xfrm>
          <a:prstGeom prst="rect">
            <a:avLst/>
          </a:prstGeom>
          <a:solidFill>
            <a:srgbClr val="FEF3C7"/>
          </a:solidFill>
          <a:ln w="10160">
            <a:solidFill>
              <a:srgbClr val="B45309"/>
            </a:solidFill>
            <a:prstDash val="solid"/>
          </a:ln>
        </p:spPr>
      </p:sp>
      <p:sp>
        <p:nvSpPr>
          <p:cNvPr id="9" name="Text 6"/>
          <p:cNvSpPr/>
          <p:nvPr/>
        </p:nvSpPr>
        <p:spPr>
          <a:xfrm>
            <a:off x="3200400" y="4206240"/>
            <a:ext cx="2651760" cy="256032"/>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Short-Text</a:t>
            </a:r>
            <a:endParaRPr lang="en-US" sz="1200" dirty="0"/>
          </a:p>
        </p:txBody>
      </p:sp>
      <p:sp>
        <p:nvSpPr>
          <p:cNvPr id="10" name="Text 7"/>
          <p:cNvSpPr/>
          <p:nvPr/>
        </p:nvSpPr>
        <p:spPr>
          <a:xfrm>
            <a:off x="3200400" y="4462272"/>
            <a:ext cx="2651760" cy="384048"/>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LIAR &amp; Twitter — sparse, ambiguous, challenging</a:t>
            </a:r>
            <a:endParaRPr lang="en-US" sz="1000" dirty="0"/>
          </a:p>
        </p:txBody>
      </p:sp>
      <p:sp>
        <p:nvSpPr>
          <p:cNvPr id="11" name="Shape 8"/>
          <p:cNvSpPr/>
          <p:nvPr/>
        </p:nvSpPr>
        <p:spPr>
          <a:xfrm>
            <a:off x="6035040" y="4160520"/>
            <a:ext cx="2651760" cy="731520"/>
          </a:xfrm>
          <a:prstGeom prst="rect">
            <a:avLst/>
          </a:prstGeom>
          <a:solidFill>
            <a:srgbClr val="DCFCE7"/>
          </a:solidFill>
          <a:ln w="10160">
            <a:solidFill>
              <a:srgbClr val="059669"/>
            </a:solidFill>
            <a:prstDash val="solid"/>
          </a:ln>
        </p:spPr>
      </p:sp>
      <p:sp>
        <p:nvSpPr>
          <p:cNvPr id="12" name="Text 9"/>
          <p:cNvSpPr/>
          <p:nvPr/>
        </p:nvSpPr>
        <p:spPr>
          <a:xfrm>
            <a:off x="6035040" y="4206240"/>
            <a:ext cx="2651760" cy="256032"/>
          </a:xfrm>
          <a:prstGeom prst="rect">
            <a:avLst/>
          </a:prstGeom>
          <a:noFill/>
          <a:ln/>
        </p:spPr>
        <p:txBody>
          <a:bodyPr wrap="square" lIns="0" tIns="0" rIns="0" bIns="0" rtlCol="0" anchor="ctr"/>
          <a:lstStyle/>
          <a:p>
            <a:pPr algn="ctr" indent="0" marL="0">
              <a:buNone/>
            </a:pPr>
            <a:r>
              <a:rPr lang="en-US" sz="1200" b="1" dirty="0">
                <a:solidFill>
                  <a:srgbClr val="059669"/>
                </a:solidFill>
                <a:latin typeface="Calibri" pitchFamily="34" charset="0"/>
                <a:ea typeface="Calibri" pitchFamily="34" charset="-122"/>
                <a:cs typeface="Calibri" pitchFamily="34" charset="-120"/>
              </a:rPr>
              <a:t>Diverse Domains</a:t>
            </a:r>
            <a:endParaRPr lang="en-US" sz="1200" dirty="0"/>
          </a:p>
        </p:txBody>
      </p:sp>
      <p:sp>
        <p:nvSpPr>
          <p:cNvPr id="13" name="Text 10"/>
          <p:cNvSpPr/>
          <p:nvPr/>
        </p:nvSpPr>
        <p:spPr>
          <a:xfrm>
            <a:off x="6035040" y="4462272"/>
            <a:ext cx="2651760" cy="384048"/>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Politics, celebrity, social media — cross-domain test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Text Preprocessing Pipeline</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320040" y="804672"/>
            <a:ext cx="2606040" cy="1828800"/>
          </a:xfrm>
          <a:prstGeom prst="rect">
            <a:avLst/>
          </a:prstGeom>
          <a:solidFill>
            <a:srgbClr val="EFF6FF"/>
          </a:solidFill>
          <a:ln w="12700">
            <a:solidFill>
              <a:srgbClr val="3B82F6"/>
            </a:solidFill>
            <a:prstDash val="solid"/>
          </a:ln>
          <a:effectLst>
            <a:outerShdw sx="100000" sy="100000" kx="0" ky="0" algn="bl" rotWithShape="0" blurRad="50800" dist="12700" dir="8100000">
              <a:srgbClr val="000000">
                <a:alpha val="6000"/>
              </a:srgbClr>
            </a:outerShdw>
          </a:effectLst>
        </p:spPr>
      </p:sp>
      <p:sp>
        <p:nvSpPr>
          <p:cNvPr id="5" name="Shape 3"/>
          <p:cNvSpPr/>
          <p:nvPr/>
        </p:nvSpPr>
        <p:spPr>
          <a:xfrm>
            <a:off x="411480" y="877824"/>
            <a:ext cx="384048" cy="384048"/>
          </a:xfrm>
          <a:prstGeom prst="ellipse">
            <a:avLst/>
          </a:prstGeom>
          <a:solidFill>
            <a:srgbClr val="1D4ED8"/>
          </a:solidFill>
          <a:ln/>
        </p:spPr>
      </p:sp>
      <p:sp>
        <p:nvSpPr>
          <p:cNvPr id="6" name="Text 4"/>
          <p:cNvSpPr/>
          <p:nvPr/>
        </p:nvSpPr>
        <p:spPr>
          <a:xfrm>
            <a:off x="411480" y="8961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868680" y="8961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URL Removal</a:t>
            </a:r>
            <a:endParaRPr lang="en-US" sz="1200" dirty="0"/>
          </a:p>
        </p:txBody>
      </p:sp>
      <p:sp>
        <p:nvSpPr>
          <p:cNvPr id="8" name="Text 6"/>
          <p:cNvSpPr/>
          <p:nvPr/>
        </p:nvSpPr>
        <p:spPr>
          <a:xfrm>
            <a:off x="429768" y="13533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Strip http:// &amp; www. links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Reduces embedding noise</a:t>
            </a:r>
            <a:endParaRPr lang="en-US" sz="1100" dirty="0"/>
          </a:p>
        </p:txBody>
      </p:sp>
      <p:sp>
        <p:nvSpPr>
          <p:cNvPr id="9" name="Shape 7"/>
          <p:cNvSpPr/>
          <p:nvPr/>
        </p:nvSpPr>
        <p:spPr>
          <a:xfrm>
            <a:off x="2926080" y="1719072"/>
            <a:ext cx="228600" cy="0"/>
          </a:xfrm>
          <a:prstGeom prst="line">
            <a:avLst/>
          </a:prstGeom>
          <a:noFill/>
          <a:ln w="19050">
            <a:solidFill>
              <a:srgbClr val="3B82F6"/>
            </a:solidFill>
            <a:prstDash val="solid"/>
          </a:ln>
        </p:spPr>
      </p:sp>
      <p:sp>
        <p:nvSpPr>
          <p:cNvPr id="10" name="Shape 8"/>
          <p:cNvSpPr/>
          <p:nvPr/>
        </p:nvSpPr>
        <p:spPr>
          <a:xfrm>
            <a:off x="3154680" y="804672"/>
            <a:ext cx="2606040" cy="1828800"/>
          </a:xfrm>
          <a:prstGeom prst="rect">
            <a:avLst/>
          </a:prstGeom>
          <a:solidFill>
            <a:srgbClr val="EFF6FF"/>
          </a:solidFill>
          <a:ln w="12700">
            <a:solidFill>
              <a:srgbClr val="3B82F6"/>
            </a:solidFill>
            <a:prstDash val="solid"/>
          </a:ln>
          <a:effectLst>
            <a:outerShdw sx="100000" sy="100000" kx="0" ky="0" algn="bl" rotWithShape="0" blurRad="50800" dist="12700" dir="8100000">
              <a:srgbClr val="000000">
                <a:alpha val="6000"/>
              </a:srgbClr>
            </a:outerShdw>
          </a:effectLst>
        </p:spPr>
      </p:sp>
      <p:sp>
        <p:nvSpPr>
          <p:cNvPr id="11" name="Shape 9"/>
          <p:cNvSpPr/>
          <p:nvPr/>
        </p:nvSpPr>
        <p:spPr>
          <a:xfrm>
            <a:off x="3246120" y="877824"/>
            <a:ext cx="384048" cy="384048"/>
          </a:xfrm>
          <a:prstGeom prst="ellipse">
            <a:avLst/>
          </a:prstGeom>
          <a:solidFill>
            <a:srgbClr val="1D4ED8"/>
          </a:solidFill>
          <a:ln/>
        </p:spPr>
      </p:sp>
      <p:sp>
        <p:nvSpPr>
          <p:cNvPr id="12" name="Text 10"/>
          <p:cNvSpPr/>
          <p:nvPr/>
        </p:nvSpPr>
        <p:spPr>
          <a:xfrm>
            <a:off x="3246120" y="8961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3703320" y="8961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Special Char Removal</a:t>
            </a:r>
            <a:endParaRPr lang="en-US" sz="1200" dirty="0"/>
          </a:p>
        </p:txBody>
      </p:sp>
      <p:sp>
        <p:nvSpPr>
          <p:cNvPr id="14" name="Text 12"/>
          <p:cNvSpPr/>
          <p:nvPr/>
        </p:nvSpPr>
        <p:spPr>
          <a:xfrm>
            <a:off x="3264408" y="13533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Remove punctuation &amp; numerics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Exceptions: apostrophes in contractions</a:t>
            </a:r>
            <a:endParaRPr lang="en-US" sz="1100" dirty="0"/>
          </a:p>
        </p:txBody>
      </p:sp>
      <p:sp>
        <p:nvSpPr>
          <p:cNvPr id="15" name="Shape 13"/>
          <p:cNvSpPr/>
          <p:nvPr/>
        </p:nvSpPr>
        <p:spPr>
          <a:xfrm>
            <a:off x="5760720" y="1719072"/>
            <a:ext cx="228600" cy="0"/>
          </a:xfrm>
          <a:prstGeom prst="line">
            <a:avLst/>
          </a:prstGeom>
          <a:noFill/>
          <a:ln w="19050">
            <a:solidFill>
              <a:srgbClr val="3B82F6"/>
            </a:solidFill>
            <a:prstDash val="solid"/>
          </a:ln>
        </p:spPr>
      </p:sp>
      <p:sp>
        <p:nvSpPr>
          <p:cNvPr id="16" name="Shape 14"/>
          <p:cNvSpPr/>
          <p:nvPr/>
        </p:nvSpPr>
        <p:spPr>
          <a:xfrm>
            <a:off x="5989320" y="804672"/>
            <a:ext cx="2606040" cy="1828800"/>
          </a:xfrm>
          <a:prstGeom prst="rect">
            <a:avLst/>
          </a:prstGeom>
          <a:solidFill>
            <a:srgbClr val="EFF6FF"/>
          </a:solidFill>
          <a:ln w="12700">
            <a:solidFill>
              <a:srgbClr val="3B82F6"/>
            </a:solidFill>
            <a:prstDash val="solid"/>
          </a:ln>
          <a:effectLst>
            <a:outerShdw sx="100000" sy="100000" kx="0" ky="0" algn="bl" rotWithShape="0" blurRad="50800" dist="12700" dir="8100000">
              <a:srgbClr val="000000">
                <a:alpha val="6000"/>
              </a:srgbClr>
            </a:outerShdw>
          </a:effectLst>
        </p:spPr>
      </p:sp>
      <p:sp>
        <p:nvSpPr>
          <p:cNvPr id="17" name="Shape 15"/>
          <p:cNvSpPr/>
          <p:nvPr/>
        </p:nvSpPr>
        <p:spPr>
          <a:xfrm>
            <a:off x="6080760" y="877824"/>
            <a:ext cx="384048" cy="384048"/>
          </a:xfrm>
          <a:prstGeom prst="ellipse">
            <a:avLst/>
          </a:prstGeom>
          <a:solidFill>
            <a:srgbClr val="1D4ED8"/>
          </a:solidFill>
          <a:ln/>
        </p:spPr>
      </p:sp>
      <p:sp>
        <p:nvSpPr>
          <p:cNvPr id="18" name="Text 16"/>
          <p:cNvSpPr/>
          <p:nvPr/>
        </p:nvSpPr>
        <p:spPr>
          <a:xfrm>
            <a:off x="6080760" y="8961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6537960" y="8961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Case Normalisation</a:t>
            </a:r>
            <a:endParaRPr lang="en-US" sz="1200" dirty="0"/>
          </a:p>
        </p:txBody>
      </p:sp>
      <p:sp>
        <p:nvSpPr>
          <p:cNvPr id="20" name="Text 18"/>
          <p:cNvSpPr/>
          <p:nvPr/>
        </p:nvSpPr>
        <p:spPr>
          <a:xfrm>
            <a:off x="6099048" y="13533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Lowercase all tokens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Unifies vocabulary entries</a:t>
            </a:r>
            <a:endParaRPr lang="en-US" sz="1100" dirty="0"/>
          </a:p>
        </p:txBody>
      </p:sp>
      <p:sp>
        <p:nvSpPr>
          <p:cNvPr id="21" name="Shape 19"/>
          <p:cNvSpPr/>
          <p:nvPr/>
        </p:nvSpPr>
        <p:spPr>
          <a:xfrm>
            <a:off x="320040" y="2862072"/>
            <a:ext cx="2606040" cy="1828800"/>
          </a:xfrm>
          <a:prstGeom prst="rect">
            <a:avLst/>
          </a:prstGeom>
          <a:solidFill>
            <a:srgbClr val="F0FDF4"/>
          </a:solidFill>
          <a:ln w="12700">
            <a:solidFill>
              <a:srgbClr val="059669"/>
            </a:solidFill>
            <a:prstDash val="solid"/>
          </a:ln>
          <a:effectLst>
            <a:outerShdw sx="100000" sy="100000" kx="0" ky="0" algn="bl" rotWithShape="0" blurRad="50800" dist="12700" dir="8100000">
              <a:srgbClr val="000000">
                <a:alpha val="6000"/>
              </a:srgbClr>
            </a:outerShdw>
          </a:effectLst>
        </p:spPr>
      </p:sp>
      <p:sp>
        <p:nvSpPr>
          <p:cNvPr id="22" name="Shape 20"/>
          <p:cNvSpPr/>
          <p:nvPr/>
        </p:nvSpPr>
        <p:spPr>
          <a:xfrm>
            <a:off x="411480" y="2935224"/>
            <a:ext cx="384048" cy="384048"/>
          </a:xfrm>
          <a:prstGeom prst="ellipse">
            <a:avLst/>
          </a:prstGeom>
          <a:solidFill>
            <a:srgbClr val="059669"/>
          </a:solidFill>
          <a:ln/>
        </p:spPr>
      </p:sp>
      <p:sp>
        <p:nvSpPr>
          <p:cNvPr id="23" name="Text 21"/>
          <p:cNvSpPr/>
          <p:nvPr/>
        </p:nvSpPr>
        <p:spPr>
          <a:xfrm>
            <a:off x="411480" y="29535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4" name="Text 22"/>
          <p:cNvSpPr/>
          <p:nvPr/>
        </p:nvSpPr>
        <p:spPr>
          <a:xfrm>
            <a:off x="868680" y="29535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Stopword Removal*</a:t>
            </a:r>
            <a:endParaRPr lang="en-US" sz="1200" dirty="0"/>
          </a:p>
        </p:txBody>
      </p:sp>
      <p:sp>
        <p:nvSpPr>
          <p:cNvPr id="25" name="Text 23"/>
          <p:cNvSpPr/>
          <p:nvPr/>
        </p:nvSpPr>
        <p:spPr>
          <a:xfrm>
            <a:off x="429768" y="34107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NLTK corpus for NB, SVM, LSTM</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Retained for RoBERTa &amp; ALBERT</a:t>
            </a:r>
            <a:endParaRPr lang="en-US" sz="1100" dirty="0"/>
          </a:p>
        </p:txBody>
      </p:sp>
      <p:sp>
        <p:nvSpPr>
          <p:cNvPr id="26" name="Shape 24"/>
          <p:cNvSpPr/>
          <p:nvPr/>
        </p:nvSpPr>
        <p:spPr>
          <a:xfrm>
            <a:off x="2926080" y="3776472"/>
            <a:ext cx="228600" cy="0"/>
          </a:xfrm>
          <a:prstGeom prst="line">
            <a:avLst/>
          </a:prstGeom>
          <a:noFill/>
          <a:ln w="19050">
            <a:solidFill>
              <a:srgbClr val="3B82F6"/>
            </a:solidFill>
            <a:prstDash val="solid"/>
          </a:ln>
        </p:spPr>
      </p:sp>
      <p:sp>
        <p:nvSpPr>
          <p:cNvPr id="27" name="Shape 25"/>
          <p:cNvSpPr/>
          <p:nvPr/>
        </p:nvSpPr>
        <p:spPr>
          <a:xfrm>
            <a:off x="3154680" y="2862072"/>
            <a:ext cx="2606040" cy="1828800"/>
          </a:xfrm>
          <a:prstGeom prst="rect">
            <a:avLst/>
          </a:prstGeom>
          <a:solidFill>
            <a:srgbClr val="F0FDF4"/>
          </a:solidFill>
          <a:ln w="12700">
            <a:solidFill>
              <a:srgbClr val="059669"/>
            </a:solidFill>
            <a:prstDash val="solid"/>
          </a:ln>
          <a:effectLst>
            <a:outerShdw sx="100000" sy="100000" kx="0" ky="0" algn="bl" rotWithShape="0" blurRad="50800" dist="12700" dir="8100000">
              <a:srgbClr val="000000">
                <a:alpha val="6000"/>
              </a:srgbClr>
            </a:outerShdw>
          </a:effectLst>
        </p:spPr>
      </p:sp>
      <p:sp>
        <p:nvSpPr>
          <p:cNvPr id="28" name="Shape 26"/>
          <p:cNvSpPr/>
          <p:nvPr/>
        </p:nvSpPr>
        <p:spPr>
          <a:xfrm>
            <a:off x="3246120" y="2935224"/>
            <a:ext cx="384048" cy="384048"/>
          </a:xfrm>
          <a:prstGeom prst="ellipse">
            <a:avLst/>
          </a:prstGeom>
          <a:solidFill>
            <a:srgbClr val="059669"/>
          </a:solidFill>
          <a:ln/>
        </p:spPr>
      </p:sp>
      <p:sp>
        <p:nvSpPr>
          <p:cNvPr id="29" name="Text 27"/>
          <p:cNvSpPr/>
          <p:nvPr/>
        </p:nvSpPr>
        <p:spPr>
          <a:xfrm>
            <a:off x="3246120" y="29535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0" name="Text 28"/>
          <p:cNvSpPr/>
          <p:nvPr/>
        </p:nvSpPr>
        <p:spPr>
          <a:xfrm>
            <a:off x="3703320" y="29535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Tokenisation</a:t>
            </a:r>
            <a:endParaRPr lang="en-US" sz="1200" dirty="0"/>
          </a:p>
        </p:txBody>
      </p:sp>
      <p:sp>
        <p:nvSpPr>
          <p:cNvPr id="31" name="Text 29"/>
          <p:cNvSpPr/>
          <p:nvPr/>
        </p:nvSpPr>
        <p:spPr>
          <a:xfrm>
            <a:off x="3264408" y="34107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Whitespace for ML/Static models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WordPiece / SentencePiece for Transformers</a:t>
            </a:r>
            <a:endParaRPr lang="en-US" sz="1100" dirty="0"/>
          </a:p>
        </p:txBody>
      </p:sp>
      <p:sp>
        <p:nvSpPr>
          <p:cNvPr id="32" name="Shape 30"/>
          <p:cNvSpPr/>
          <p:nvPr/>
        </p:nvSpPr>
        <p:spPr>
          <a:xfrm>
            <a:off x="5760720" y="3776472"/>
            <a:ext cx="228600" cy="0"/>
          </a:xfrm>
          <a:prstGeom prst="line">
            <a:avLst/>
          </a:prstGeom>
          <a:noFill/>
          <a:ln w="19050">
            <a:solidFill>
              <a:srgbClr val="3B82F6"/>
            </a:solidFill>
            <a:prstDash val="solid"/>
          </a:ln>
        </p:spPr>
      </p:sp>
      <p:sp>
        <p:nvSpPr>
          <p:cNvPr id="33" name="Shape 31"/>
          <p:cNvSpPr/>
          <p:nvPr/>
        </p:nvSpPr>
        <p:spPr>
          <a:xfrm>
            <a:off x="5989320" y="2862072"/>
            <a:ext cx="2606040" cy="1828800"/>
          </a:xfrm>
          <a:prstGeom prst="rect">
            <a:avLst/>
          </a:prstGeom>
          <a:solidFill>
            <a:srgbClr val="F0FDF4"/>
          </a:solidFill>
          <a:ln w="12700">
            <a:solidFill>
              <a:srgbClr val="059669"/>
            </a:solidFill>
            <a:prstDash val="solid"/>
          </a:ln>
          <a:effectLst>
            <a:outerShdw sx="100000" sy="100000" kx="0" ky="0" algn="bl" rotWithShape="0" blurRad="50800" dist="12700" dir="8100000">
              <a:srgbClr val="000000">
                <a:alpha val="6000"/>
              </a:srgbClr>
            </a:outerShdw>
          </a:effectLst>
        </p:spPr>
      </p:sp>
      <p:sp>
        <p:nvSpPr>
          <p:cNvPr id="34" name="Shape 32"/>
          <p:cNvSpPr/>
          <p:nvPr/>
        </p:nvSpPr>
        <p:spPr>
          <a:xfrm>
            <a:off x="6080760" y="2935224"/>
            <a:ext cx="384048" cy="384048"/>
          </a:xfrm>
          <a:prstGeom prst="ellipse">
            <a:avLst/>
          </a:prstGeom>
          <a:solidFill>
            <a:srgbClr val="059669"/>
          </a:solidFill>
          <a:ln/>
        </p:spPr>
      </p:sp>
      <p:sp>
        <p:nvSpPr>
          <p:cNvPr id="35" name="Text 33"/>
          <p:cNvSpPr/>
          <p:nvPr/>
        </p:nvSpPr>
        <p:spPr>
          <a:xfrm>
            <a:off x="6080760" y="2953512"/>
            <a:ext cx="3840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6" name="Text 34"/>
          <p:cNvSpPr/>
          <p:nvPr/>
        </p:nvSpPr>
        <p:spPr>
          <a:xfrm>
            <a:off x="6537960" y="2953512"/>
            <a:ext cx="1965960" cy="347472"/>
          </a:xfrm>
          <a:prstGeom prst="rect">
            <a:avLst/>
          </a:prstGeom>
          <a:noFill/>
          <a:ln/>
        </p:spPr>
        <p:txBody>
          <a:bodyPr wrap="square" lIns="0" tIns="0" rIns="0" bIns="0" rtlCol="0" anchor="ctr"/>
          <a:lstStyle/>
          <a:p>
            <a:pPr indent="0" marL="0">
              <a:buNone/>
            </a:pPr>
            <a:r>
              <a:rPr lang="en-US" sz="1200" b="1" dirty="0">
                <a:solidFill>
                  <a:srgbClr val="0B1E45"/>
                </a:solidFill>
                <a:latin typeface="Calibri" pitchFamily="34" charset="0"/>
                <a:ea typeface="Calibri" pitchFamily="34" charset="-122"/>
                <a:cs typeface="Calibri" pitchFamily="34" charset="-120"/>
              </a:rPr>
              <a:t>Padding &amp; Truncation</a:t>
            </a:r>
            <a:endParaRPr lang="en-US" sz="1200" dirty="0"/>
          </a:p>
        </p:txBody>
      </p:sp>
      <p:sp>
        <p:nvSpPr>
          <p:cNvPr id="37" name="Text 35"/>
          <p:cNvSpPr/>
          <p:nvPr/>
        </p:nvSpPr>
        <p:spPr>
          <a:xfrm>
            <a:off x="6099048" y="3410712"/>
            <a:ext cx="2377440" cy="118872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Transformers: max 128 tokens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LSTM / BiLSTM: max 2,000 tokens</a:t>
            </a:r>
            <a:endParaRPr lang="en-US" sz="1100" dirty="0"/>
          </a:p>
        </p:txBody>
      </p:sp>
      <p:sp>
        <p:nvSpPr>
          <p:cNvPr id="38" name="Text 36"/>
          <p:cNvSpPr/>
          <p:nvPr/>
        </p:nvSpPr>
        <p:spPr>
          <a:xfrm>
            <a:off x="365760" y="4773168"/>
            <a:ext cx="8412480" cy="246888"/>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Stopwords intentionally retained for RoBERTa &amp; ALBERT — transformers exploit full linguistic context including function words.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Feature Extraction — Three Embedding Strategies</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274320" y="749808"/>
            <a:ext cx="2697480" cy="4206240"/>
          </a:xfrm>
          <a:prstGeom prst="rect">
            <a:avLst/>
          </a:prstGeom>
          <a:solidFill>
            <a:srgbClr val="EFF6FF"/>
          </a:solidFill>
          <a:ln w="15240">
            <a:solidFill>
              <a:srgbClr val="1D4ED8"/>
            </a:solidFill>
            <a:prstDash val="solid"/>
          </a:ln>
          <a:effectLst>
            <a:outerShdw sx="100000" sy="100000" kx="0" ky="0" algn="bl" rotWithShape="0" blurRad="63500" dist="25400" dir="8100000">
              <a:srgbClr val="000000">
                <a:alpha val="7000"/>
              </a:srgbClr>
            </a:outerShdw>
          </a:effectLst>
        </p:spPr>
      </p:sp>
      <p:sp>
        <p:nvSpPr>
          <p:cNvPr id="5" name="Shape 3"/>
          <p:cNvSpPr/>
          <p:nvPr/>
        </p:nvSpPr>
        <p:spPr>
          <a:xfrm>
            <a:off x="274320" y="749808"/>
            <a:ext cx="2697480" cy="475488"/>
          </a:xfrm>
          <a:prstGeom prst="rect">
            <a:avLst/>
          </a:prstGeom>
          <a:solidFill>
            <a:srgbClr val="1D4ED8"/>
          </a:solidFill>
          <a:ln/>
        </p:spPr>
      </p:sp>
      <p:sp>
        <p:nvSpPr>
          <p:cNvPr id="6" name="Text 4"/>
          <p:cNvSpPr/>
          <p:nvPr/>
        </p:nvSpPr>
        <p:spPr>
          <a:xfrm>
            <a:off x="274320" y="768096"/>
            <a:ext cx="2697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Strategy 1</a:t>
            </a:r>
            <a:endParaRPr lang="en-US" sz="1000" dirty="0"/>
          </a:p>
        </p:txBody>
      </p:sp>
      <p:sp>
        <p:nvSpPr>
          <p:cNvPr id="7" name="Text 5"/>
          <p:cNvSpPr/>
          <p:nvPr/>
        </p:nvSpPr>
        <p:spPr>
          <a:xfrm>
            <a:off x="274320" y="978408"/>
            <a:ext cx="269748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TF-IDF Vectors</a:t>
            </a:r>
            <a:endParaRPr lang="en-US" sz="1300" dirty="0"/>
          </a:p>
        </p:txBody>
      </p:sp>
      <p:sp>
        <p:nvSpPr>
          <p:cNvPr id="8" name="Text 6"/>
          <p:cNvSpPr/>
          <p:nvPr/>
        </p:nvSpPr>
        <p:spPr>
          <a:xfrm>
            <a:off x="274320" y="1298448"/>
            <a:ext cx="2697480" cy="237744"/>
          </a:xfrm>
          <a:prstGeom prst="rect">
            <a:avLst/>
          </a:prstGeom>
          <a:noFill/>
          <a:ln/>
        </p:spPr>
        <p:txBody>
          <a:bodyPr wrap="square" lIns="0" tIns="0" rIns="0" bIns="0" rtlCol="0" anchor="ctr"/>
          <a:lstStyle/>
          <a:p>
            <a:pPr algn="ctr" indent="0" marL="0">
              <a:buNone/>
            </a:pPr>
            <a:r>
              <a:rPr lang="en-US" sz="1100" b="1" dirty="0">
                <a:solidFill>
                  <a:srgbClr val="1D4ED8"/>
                </a:solidFill>
                <a:latin typeface="Calibri" pitchFamily="34" charset="0"/>
                <a:ea typeface="Calibri" pitchFamily="34" charset="-122"/>
                <a:cs typeface="Calibri" pitchFamily="34" charset="-120"/>
              </a:rPr>
              <a:t>50,000 features</a:t>
            </a:r>
            <a:endParaRPr lang="en-US" sz="1100" dirty="0"/>
          </a:p>
        </p:txBody>
      </p:sp>
      <p:sp>
        <p:nvSpPr>
          <p:cNvPr id="9" name="Text 7"/>
          <p:cNvSpPr/>
          <p:nvPr/>
        </p:nvSpPr>
        <p:spPr>
          <a:xfrm>
            <a:off x="274320" y="1572768"/>
            <a:ext cx="2697480" cy="22860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  Naïve Bayes  +  SVM</a:t>
            </a:r>
            <a:endParaRPr lang="en-US" sz="1050" dirty="0"/>
          </a:p>
        </p:txBody>
      </p:sp>
      <p:sp>
        <p:nvSpPr>
          <p:cNvPr id="10" name="Shape 8"/>
          <p:cNvSpPr/>
          <p:nvPr/>
        </p:nvSpPr>
        <p:spPr>
          <a:xfrm>
            <a:off x="365760" y="1874520"/>
            <a:ext cx="2514600" cy="18288"/>
          </a:xfrm>
          <a:prstGeom prst="rect">
            <a:avLst/>
          </a:prstGeom>
          <a:solidFill>
            <a:srgbClr val="1D4ED8"/>
          </a:solidFill>
          <a:ln/>
        </p:spPr>
      </p:sp>
      <p:sp>
        <p:nvSpPr>
          <p:cNvPr id="11" name="Text 9"/>
          <p:cNvSpPr/>
          <p:nvPr/>
        </p:nvSpPr>
        <p:spPr>
          <a:xfrm>
            <a:off x="384048" y="1965960"/>
            <a:ext cx="2478024" cy="2880360"/>
          </a:xfrm>
          <a:prstGeom prst="rect">
            <a:avLst/>
          </a:prstGeom>
          <a:noFill/>
          <a:ln/>
        </p:spPr>
        <p:txBody>
          <a:bodyPr wrap="square" rtlCol="0" anchor="t"/>
          <a:lstStyle/>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Term Frequency × Inverse Doc Frequency</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Captures word importance across corpus</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Sparse, high-dimensional matrix</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No word order / context captured</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Fast to compute, strong baseline</a:t>
            </a:r>
            <a:endParaRPr lang="en-US" sz="1050" dirty="0"/>
          </a:p>
        </p:txBody>
      </p:sp>
      <p:sp>
        <p:nvSpPr>
          <p:cNvPr id="12" name="Shape 10"/>
          <p:cNvSpPr/>
          <p:nvPr/>
        </p:nvSpPr>
        <p:spPr>
          <a:xfrm>
            <a:off x="3154680" y="749808"/>
            <a:ext cx="2697480" cy="4206240"/>
          </a:xfrm>
          <a:prstGeom prst="rect">
            <a:avLst/>
          </a:prstGeom>
          <a:solidFill>
            <a:srgbClr val="FFFBEB"/>
          </a:solidFill>
          <a:ln w="15240">
            <a:solidFill>
              <a:srgbClr val="B45309"/>
            </a:solidFill>
            <a:prstDash val="solid"/>
          </a:ln>
          <a:effectLst>
            <a:outerShdw sx="100000" sy="100000" kx="0" ky="0" algn="bl" rotWithShape="0" blurRad="63500" dist="25400" dir="8100000">
              <a:srgbClr val="000000">
                <a:alpha val="7000"/>
              </a:srgbClr>
            </a:outerShdw>
          </a:effectLst>
        </p:spPr>
      </p:sp>
      <p:sp>
        <p:nvSpPr>
          <p:cNvPr id="13" name="Shape 11"/>
          <p:cNvSpPr/>
          <p:nvPr/>
        </p:nvSpPr>
        <p:spPr>
          <a:xfrm>
            <a:off x="3154680" y="749808"/>
            <a:ext cx="2697480" cy="475488"/>
          </a:xfrm>
          <a:prstGeom prst="rect">
            <a:avLst/>
          </a:prstGeom>
          <a:solidFill>
            <a:srgbClr val="B45309"/>
          </a:solidFill>
          <a:ln/>
        </p:spPr>
      </p:sp>
      <p:sp>
        <p:nvSpPr>
          <p:cNvPr id="14" name="Text 12"/>
          <p:cNvSpPr/>
          <p:nvPr/>
        </p:nvSpPr>
        <p:spPr>
          <a:xfrm>
            <a:off x="3154680" y="768096"/>
            <a:ext cx="2697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Strategy 2</a:t>
            </a:r>
            <a:endParaRPr lang="en-US" sz="1000" dirty="0"/>
          </a:p>
        </p:txBody>
      </p:sp>
      <p:sp>
        <p:nvSpPr>
          <p:cNvPr id="15" name="Text 13"/>
          <p:cNvSpPr/>
          <p:nvPr/>
        </p:nvSpPr>
        <p:spPr>
          <a:xfrm>
            <a:off x="3154680" y="978408"/>
            <a:ext cx="269748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GloVe / Word2Vec</a:t>
            </a:r>
            <a:endParaRPr lang="en-US" sz="1300" dirty="0"/>
          </a:p>
        </p:txBody>
      </p:sp>
      <p:sp>
        <p:nvSpPr>
          <p:cNvPr id="16" name="Text 14"/>
          <p:cNvSpPr/>
          <p:nvPr/>
        </p:nvSpPr>
        <p:spPr>
          <a:xfrm>
            <a:off x="3154680" y="1298448"/>
            <a:ext cx="2697480" cy="237744"/>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100-dim dense vectors</a:t>
            </a:r>
            <a:endParaRPr lang="en-US" sz="1100" dirty="0"/>
          </a:p>
        </p:txBody>
      </p:sp>
      <p:sp>
        <p:nvSpPr>
          <p:cNvPr id="17" name="Text 15"/>
          <p:cNvSpPr/>
          <p:nvPr/>
        </p:nvSpPr>
        <p:spPr>
          <a:xfrm>
            <a:off x="3154680" y="1572768"/>
            <a:ext cx="2697480" cy="22860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  LSTM  +  BiLSTM</a:t>
            </a:r>
            <a:endParaRPr lang="en-US" sz="1050" dirty="0"/>
          </a:p>
        </p:txBody>
      </p:sp>
      <p:sp>
        <p:nvSpPr>
          <p:cNvPr id="18" name="Shape 16"/>
          <p:cNvSpPr/>
          <p:nvPr/>
        </p:nvSpPr>
        <p:spPr>
          <a:xfrm>
            <a:off x="3246120" y="1874520"/>
            <a:ext cx="2514600" cy="18288"/>
          </a:xfrm>
          <a:prstGeom prst="rect">
            <a:avLst/>
          </a:prstGeom>
          <a:solidFill>
            <a:srgbClr val="B45309"/>
          </a:solidFill>
          <a:ln/>
        </p:spPr>
      </p:sp>
      <p:sp>
        <p:nvSpPr>
          <p:cNvPr id="19" name="Text 17"/>
          <p:cNvSpPr/>
          <p:nvPr/>
        </p:nvSpPr>
        <p:spPr>
          <a:xfrm>
            <a:off x="3264408" y="1965960"/>
            <a:ext cx="2478024" cy="2880360"/>
          </a:xfrm>
          <a:prstGeom prst="rect">
            <a:avLst/>
          </a:prstGeom>
          <a:noFill/>
          <a:ln/>
        </p:spPr>
        <p:txBody>
          <a:bodyPr wrap="square" rtlCol="0" anchor="t"/>
          <a:lstStyle/>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Pre-trained on 6B tokens (GloVe-Wikipedia)</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Word2Vec Skip-Gram trained per corpus</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Captures word semantics via co-occurrence</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Static — same vector regardless of context</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Trainable embedding layer in neural nets</a:t>
            </a:r>
            <a:endParaRPr lang="en-US" sz="1050" dirty="0"/>
          </a:p>
        </p:txBody>
      </p:sp>
      <p:sp>
        <p:nvSpPr>
          <p:cNvPr id="20" name="Shape 18"/>
          <p:cNvSpPr/>
          <p:nvPr/>
        </p:nvSpPr>
        <p:spPr>
          <a:xfrm>
            <a:off x="6035040" y="749808"/>
            <a:ext cx="2697480" cy="4206240"/>
          </a:xfrm>
          <a:prstGeom prst="rect">
            <a:avLst/>
          </a:prstGeom>
          <a:solidFill>
            <a:srgbClr val="F0FDF4"/>
          </a:solidFill>
          <a:ln w="15240">
            <a:solidFill>
              <a:srgbClr val="059669"/>
            </a:solidFill>
            <a:prstDash val="solid"/>
          </a:ln>
          <a:effectLst>
            <a:outerShdw sx="100000" sy="100000" kx="0" ky="0" algn="bl" rotWithShape="0" blurRad="63500" dist="25400" dir="8100000">
              <a:srgbClr val="000000">
                <a:alpha val="7000"/>
              </a:srgbClr>
            </a:outerShdw>
          </a:effectLst>
        </p:spPr>
      </p:sp>
      <p:sp>
        <p:nvSpPr>
          <p:cNvPr id="21" name="Shape 19"/>
          <p:cNvSpPr/>
          <p:nvPr/>
        </p:nvSpPr>
        <p:spPr>
          <a:xfrm>
            <a:off x="6035040" y="749808"/>
            <a:ext cx="2697480" cy="475488"/>
          </a:xfrm>
          <a:prstGeom prst="rect">
            <a:avLst/>
          </a:prstGeom>
          <a:solidFill>
            <a:srgbClr val="059669"/>
          </a:solidFill>
          <a:ln/>
        </p:spPr>
      </p:sp>
      <p:sp>
        <p:nvSpPr>
          <p:cNvPr id="22" name="Text 20"/>
          <p:cNvSpPr/>
          <p:nvPr/>
        </p:nvSpPr>
        <p:spPr>
          <a:xfrm>
            <a:off x="6035040" y="768096"/>
            <a:ext cx="269748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Strategy 3</a:t>
            </a:r>
            <a:endParaRPr lang="en-US" sz="1000" dirty="0"/>
          </a:p>
        </p:txBody>
      </p:sp>
      <p:sp>
        <p:nvSpPr>
          <p:cNvPr id="23" name="Text 21"/>
          <p:cNvSpPr/>
          <p:nvPr/>
        </p:nvSpPr>
        <p:spPr>
          <a:xfrm>
            <a:off x="6035040" y="978408"/>
            <a:ext cx="269748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BERT Contextual</a:t>
            </a:r>
            <a:endParaRPr lang="en-US" sz="1300" dirty="0"/>
          </a:p>
        </p:txBody>
      </p:sp>
      <p:sp>
        <p:nvSpPr>
          <p:cNvPr id="24" name="Text 22"/>
          <p:cNvSpPr/>
          <p:nvPr/>
        </p:nvSpPr>
        <p:spPr>
          <a:xfrm>
            <a:off x="6035040" y="1298448"/>
            <a:ext cx="2697480" cy="237744"/>
          </a:xfrm>
          <a:prstGeom prst="rect">
            <a:avLst/>
          </a:prstGeom>
          <a:noFill/>
          <a:ln/>
        </p:spPr>
        <p:txBody>
          <a:bodyPr wrap="square" lIns="0" tIns="0" rIns="0" bIns="0"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768-dim [CLS] embeddings</a:t>
            </a:r>
            <a:endParaRPr lang="en-US" sz="1100" dirty="0"/>
          </a:p>
        </p:txBody>
      </p:sp>
      <p:sp>
        <p:nvSpPr>
          <p:cNvPr id="25" name="Text 23"/>
          <p:cNvSpPr/>
          <p:nvPr/>
        </p:nvSpPr>
        <p:spPr>
          <a:xfrm>
            <a:off x="6035040" y="1572768"/>
            <a:ext cx="2697480" cy="22860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  RoBERTa  +  ALBERT</a:t>
            </a:r>
            <a:endParaRPr lang="en-US" sz="1050" dirty="0"/>
          </a:p>
        </p:txBody>
      </p:sp>
      <p:sp>
        <p:nvSpPr>
          <p:cNvPr id="26" name="Shape 24"/>
          <p:cNvSpPr/>
          <p:nvPr/>
        </p:nvSpPr>
        <p:spPr>
          <a:xfrm>
            <a:off x="6126480" y="1874520"/>
            <a:ext cx="2514600" cy="18288"/>
          </a:xfrm>
          <a:prstGeom prst="rect">
            <a:avLst/>
          </a:prstGeom>
          <a:solidFill>
            <a:srgbClr val="059669"/>
          </a:solidFill>
          <a:ln/>
        </p:spPr>
      </p:sp>
      <p:sp>
        <p:nvSpPr>
          <p:cNvPr id="27" name="Text 25"/>
          <p:cNvSpPr/>
          <p:nvPr/>
        </p:nvSpPr>
        <p:spPr>
          <a:xfrm>
            <a:off x="6144768" y="1965960"/>
            <a:ext cx="2478024" cy="2880360"/>
          </a:xfrm>
          <a:prstGeom prst="rect">
            <a:avLst/>
          </a:prstGeom>
          <a:noFill/>
          <a:ln/>
        </p:spPr>
        <p:txBody>
          <a:bodyPr wrap="square" rtlCol="0" anchor="t"/>
          <a:lstStyle/>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Dynamic — same word, different vector per context</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Pre-trained on massive corpora (billions of tokens)</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WordPiece / SentencePiece tokenization</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Captures nuanced semantic &amp; syntactic patterns</a:t>
            </a:r>
            <a:endParaRPr lang="en-US" sz="1050" dirty="0"/>
          </a:p>
          <a:p>
            <a:pPr marL="342900" indent="-342900">
              <a:spcAft>
                <a:spcPts val="500"/>
              </a:spcAft>
              <a:buSzPct val="100000"/>
              <a:buChar char="•"/>
            </a:pPr>
            <a:r>
              <a:rPr lang="en-US" sz="1050" dirty="0">
                <a:solidFill>
                  <a:srgbClr val="0F172A"/>
                </a:solidFill>
                <a:latin typeface="Calibri" pitchFamily="34" charset="0"/>
                <a:ea typeface="Calibri" pitchFamily="34" charset="-122"/>
                <a:cs typeface="Calibri" pitchFamily="34" charset="-120"/>
              </a:rPr>
              <a:t>State-of-the-art on all NLP benchmarks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Proposed Methodology — Six Classification Algorithms</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274320" y="749808"/>
            <a:ext cx="2743200" cy="384048"/>
          </a:xfrm>
          <a:prstGeom prst="rect">
            <a:avLst/>
          </a:prstGeom>
          <a:solidFill>
            <a:srgbClr val="1D4ED8"/>
          </a:solidFill>
          <a:ln/>
        </p:spPr>
      </p:sp>
      <p:sp>
        <p:nvSpPr>
          <p:cNvPr id="5" name="Text 3"/>
          <p:cNvSpPr/>
          <p:nvPr/>
        </p:nvSpPr>
        <p:spPr>
          <a:xfrm>
            <a:off x="274320" y="768096"/>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Classical ML</a:t>
            </a:r>
            <a:endParaRPr lang="en-US" sz="1200" dirty="0"/>
          </a:p>
        </p:txBody>
      </p:sp>
      <p:sp>
        <p:nvSpPr>
          <p:cNvPr id="6" name="Shape 4"/>
          <p:cNvSpPr/>
          <p:nvPr/>
        </p:nvSpPr>
        <p:spPr>
          <a:xfrm>
            <a:off x="274320" y="1207008"/>
            <a:ext cx="2743200" cy="1783080"/>
          </a:xfrm>
          <a:prstGeom prst="rect">
            <a:avLst/>
          </a:prstGeom>
          <a:solidFill>
            <a:srgbClr val="EFF6FF"/>
          </a:solidFill>
          <a:ln w="10160">
            <a:solidFill>
              <a:srgbClr val="1D4ED8"/>
            </a:solidFill>
            <a:prstDash val="solid"/>
          </a:ln>
        </p:spPr>
      </p:sp>
      <p:sp>
        <p:nvSpPr>
          <p:cNvPr id="7" name="Text 5"/>
          <p:cNvSpPr/>
          <p:nvPr/>
        </p:nvSpPr>
        <p:spPr>
          <a:xfrm>
            <a:off x="365760" y="1280160"/>
            <a:ext cx="2560320" cy="274320"/>
          </a:xfrm>
          <a:prstGeom prst="rect">
            <a:avLst/>
          </a:prstGeom>
          <a:noFill/>
          <a:ln/>
        </p:spPr>
        <p:txBody>
          <a:bodyPr wrap="square" lIns="0" tIns="0" rIns="0" bIns="0" rtlCol="0" anchor="ctr"/>
          <a:lstStyle/>
          <a:p>
            <a:pPr indent="0" marL="0">
              <a:buNone/>
            </a:pPr>
            <a:r>
              <a:rPr lang="en-US" sz="1150" b="1" dirty="0">
                <a:solidFill>
                  <a:srgbClr val="1D4ED8"/>
                </a:solidFill>
                <a:latin typeface="Calibri" pitchFamily="34" charset="0"/>
                <a:ea typeface="Calibri" pitchFamily="34" charset="-122"/>
                <a:cs typeface="Calibri" pitchFamily="34" charset="-120"/>
              </a:rPr>
              <a:t>Naïve Bayes (Multinomial)</a:t>
            </a:r>
            <a:endParaRPr lang="en-US" sz="1150" dirty="0"/>
          </a:p>
        </p:txBody>
      </p:sp>
      <p:sp>
        <p:nvSpPr>
          <p:cNvPr id="8" name="Shape 6"/>
          <p:cNvSpPr/>
          <p:nvPr/>
        </p:nvSpPr>
        <p:spPr>
          <a:xfrm>
            <a:off x="365760" y="1591056"/>
            <a:ext cx="2560320" cy="18288"/>
          </a:xfrm>
          <a:prstGeom prst="rect">
            <a:avLst/>
          </a:prstGeom>
          <a:solidFill>
            <a:srgbClr val="1D4ED8"/>
          </a:solidFill>
          <a:ln/>
        </p:spPr>
      </p:sp>
      <p:sp>
        <p:nvSpPr>
          <p:cNvPr id="9" name="Text 7"/>
          <p:cNvSpPr/>
          <p:nvPr/>
        </p:nvSpPr>
        <p:spPr>
          <a:xfrm>
            <a:off x="365760" y="166420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TF-IDF + Laplace smoothing (α=1)</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Prior × likelihood maximization</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Fast baseline; strong independence assumption</a:t>
            </a:r>
            <a:endParaRPr lang="en-US" sz="1000" dirty="0"/>
          </a:p>
        </p:txBody>
      </p:sp>
      <p:sp>
        <p:nvSpPr>
          <p:cNvPr id="10" name="Shape 8"/>
          <p:cNvSpPr/>
          <p:nvPr/>
        </p:nvSpPr>
        <p:spPr>
          <a:xfrm>
            <a:off x="274320" y="3127248"/>
            <a:ext cx="2743200" cy="1783080"/>
          </a:xfrm>
          <a:prstGeom prst="rect">
            <a:avLst/>
          </a:prstGeom>
          <a:solidFill>
            <a:srgbClr val="EFF6FF"/>
          </a:solidFill>
          <a:ln w="10160">
            <a:solidFill>
              <a:srgbClr val="1D4ED8"/>
            </a:solidFill>
            <a:prstDash val="solid"/>
          </a:ln>
        </p:spPr>
      </p:sp>
      <p:sp>
        <p:nvSpPr>
          <p:cNvPr id="11" name="Text 9"/>
          <p:cNvSpPr/>
          <p:nvPr/>
        </p:nvSpPr>
        <p:spPr>
          <a:xfrm>
            <a:off x="365760" y="3200400"/>
            <a:ext cx="2560320" cy="274320"/>
          </a:xfrm>
          <a:prstGeom prst="rect">
            <a:avLst/>
          </a:prstGeom>
          <a:noFill/>
          <a:ln/>
        </p:spPr>
        <p:txBody>
          <a:bodyPr wrap="square" lIns="0" tIns="0" rIns="0" bIns="0" rtlCol="0" anchor="ctr"/>
          <a:lstStyle/>
          <a:p>
            <a:pPr indent="0" marL="0">
              <a:buNone/>
            </a:pPr>
            <a:r>
              <a:rPr lang="en-US" sz="1150" b="1" dirty="0">
                <a:solidFill>
                  <a:srgbClr val="1D4ED8"/>
                </a:solidFill>
                <a:latin typeface="Calibri" pitchFamily="34" charset="0"/>
                <a:ea typeface="Calibri" pitchFamily="34" charset="-122"/>
                <a:cs typeface="Calibri" pitchFamily="34" charset="-120"/>
              </a:rPr>
              <a:t>Linear SVM</a:t>
            </a:r>
            <a:endParaRPr lang="en-US" sz="1150" dirty="0"/>
          </a:p>
        </p:txBody>
      </p:sp>
      <p:sp>
        <p:nvSpPr>
          <p:cNvPr id="12" name="Shape 10"/>
          <p:cNvSpPr/>
          <p:nvPr/>
        </p:nvSpPr>
        <p:spPr>
          <a:xfrm>
            <a:off x="365760" y="3511296"/>
            <a:ext cx="2560320" cy="18288"/>
          </a:xfrm>
          <a:prstGeom prst="rect">
            <a:avLst/>
          </a:prstGeom>
          <a:solidFill>
            <a:srgbClr val="1D4ED8"/>
          </a:solidFill>
          <a:ln/>
        </p:spPr>
      </p:sp>
      <p:sp>
        <p:nvSpPr>
          <p:cNvPr id="13" name="Text 11"/>
          <p:cNvSpPr/>
          <p:nvPr/>
        </p:nvSpPr>
        <p:spPr>
          <a:xfrm>
            <a:off x="365760" y="358444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TF-IDF (50K features) + max-margin hyperplane</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Soft-margin C=1.0, LinearSVC solver</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50× faster than transformers</a:t>
            </a:r>
            <a:endParaRPr lang="en-US" sz="1000" dirty="0"/>
          </a:p>
        </p:txBody>
      </p:sp>
      <p:sp>
        <p:nvSpPr>
          <p:cNvPr id="14" name="Shape 12"/>
          <p:cNvSpPr/>
          <p:nvPr/>
        </p:nvSpPr>
        <p:spPr>
          <a:xfrm>
            <a:off x="3200400" y="749808"/>
            <a:ext cx="2743200" cy="384048"/>
          </a:xfrm>
          <a:prstGeom prst="rect">
            <a:avLst/>
          </a:prstGeom>
          <a:solidFill>
            <a:srgbClr val="B45309"/>
          </a:solidFill>
          <a:ln/>
        </p:spPr>
      </p:sp>
      <p:sp>
        <p:nvSpPr>
          <p:cNvPr id="15" name="Text 13"/>
          <p:cNvSpPr/>
          <p:nvPr/>
        </p:nvSpPr>
        <p:spPr>
          <a:xfrm>
            <a:off x="3200400" y="768096"/>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Deep Learning (RNN)</a:t>
            </a:r>
            <a:endParaRPr lang="en-US" sz="1200" dirty="0"/>
          </a:p>
        </p:txBody>
      </p:sp>
      <p:sp>
        <p:nvSpPr>
          <p:cNvPr id="16" name="Shape 14"/>
          <p:cNvSpPr/>
          <p:nvPr/>
        </p:nvSpPr>
        <p:spPr>
          <a:xfrm>
            <a:off x="3200400" y="1207008"/>
            <a:ext cx="2743200" cy="1783080"/>
          </a:xfrm>
          <a:prstGeom prst="rect">
            <a:avLst/>
          </a:prstGeom>
          <a:solidFill>
            <a:srgbClr val="FFFBEB"/>
          </a:solidFill>
          <a:ln w="10160">
            <a:solidFill>
              <a:srgbClr val="B45309"/>
            </a:solidFill>
            <a:prstDash val="solid"/>
          </a:ln>
        </p:spPr>
      </p:sp>
      <p:sp>
        <p:nvSpPr>
          <p:cNvPr id="17" name="Text 15"/>
          <p:cNvSpPr/>
          <p:nvPr/>
        </p:nvSpPr>
        <p:spPr>
          <a:xfrm>
            <a:off x="3291840" y="1280160"/>
            <a:ext cx="2560320" cy="27432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LSTM</a:t>
            </a:r>
            <a:endParaRPr lang="en-US" sz="1150" dirty="0"/>
          </a:p>
        </p:txBody>
      </p:sp>
      <p:sp>
        <p:nvSpPr>
          <p:cNvPr id="18" name="Shape 16"/>
          <p:cNvSpPr/>
          <p:nvPr/>
        </p:nvSpPr>
        <p:spPr>
          <a:xfrm>
            <a:off x="3291840" y="1591056"/>
            <a:ext cx="2560320" cy="18288"/>
          </a:xfrm>
          <a:prstGeom prst="rect">
            <a:avLst/>
          </a:prstGeom>
          <a:solidFill>
            <a:srgbClr val="B45309"/>
          </a:solidFill>
          <a:ln/>
        </p:spPr>
      </p:sp>
      <p:sp>
        <p:nvSpPr>
          <p:cNvPr id="19" name="Text 17"/>
          <p:cNvSpPr/>
          <p:nvPr/>
        </p:nvSpPr>
        <p:spPr>
          <a:xfrm>
            <a:off x="3291840" y="166420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Embedding (GloVe/W2V, 100-dim) → LSTM (64 units)</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Forget/Input/Output gates address vanishing gradient</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Dropout=0.2 · Adam lr=0.001 · 30 epochs</a:t>
            </a:r>
            <a:endParaRPr lang="en-US" sz="1000" dirty="0"/>
          </a:p>
        </p:txBody>
      </p:sp>
      <p:sp>
        <p:nvSpPr>
          <p:cNvPr id="20" name="Shape 18"/>
          <p:cNvSpPr/>
          <p:nvPr/>
        </p:nvSpPr>
        <p:spPr>
          <a:xfrm>
            <a:off x="3200400" y="3127248"/>
            <a:ext cx="2743200" cy="1783080"/>
          </a:xfrm>
          <a:prstGeom prst="rect">
            <a:avLst/>
          </a:prstGeom>
          <a:solidFill>
            <a:srgbClr val="FFFBEB"/>
          </a:solidFill>
          <a:ln w="10160">
            <a:solidFill>
              <a:srgbClr val="B45309"/>
            </a:solidFill>
            <a:prstDash val="solid"/>
          </a:ln>
        </p:spPr>
      </p:sp>
      <p:sp>
        <p:nvSpPr>
          <p:cNvPr id="21" name="Text 19"/>
          <p:cNvSpPr/>
          <p:nvPr/>
        </p:nvSpPr>
        <p:spPr>
          <a:xfrm>
            <a:off x="3291840" y="3200400"/>
            <a:ext cx="2560320" cy="27432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Bidirectional LSTM</a:t>
            </a:r>
            <a:endParaRPr lang="en-US" sz="1150" dirty="0"/>
          </a:p>
        </p:txBody>
      </p:sp>
      <p:sp>
        <p:nvSpPr>
          <p:cNvPr id="22" name="Shape 20"/>
          <p:cNvSpPr/>
          <p:nvPr/>
        </p:nvSpPr>
        <p:spPr>
          <a:xfrm>
            <a:off x="3291840" y="3511296"/>
            <a:ext cx="2560320" cy="18288"/>
          </a:xfrm>
          <a:prstGeom prst="rect">
            <a:avLst/>
          </a:prstGeom>
          <a:solidFill>
            <a:srgbClr val="B45309"/>
          </a:solidFill>
          <a:ln/>
        </p:spPr>
      </p:sp>
      <p:sp>
        <p:nvSpPr>
          <p:cNvPr id="23" name="Text 21"/>
          <p:cNvSpPr/>
          <p:nvPr/>
        </p:nvSpPr>
        <p:spPr>
          <a:xfrm>
            <a:off x="3291840" y="358444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Forward + Backward LSTM (64+64=128 units)</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Captures both preceding &amp; following context</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Word2Vec embeddings · trainable layer</a:t>
            </a:r>
            <a:endParaRPr lang="en-US" sz="1000" dirty="0"/>
          </a:p>
        </p:txBody>
      </p:sp>
      <p:sp>
        <p:nvSpPr>
          <p:cNvPr id="24" name="Shape 22"/>
          <p:cNvSpPr/>
          <p:nvPr/>
        </p:nvSpPr>
        <p:spPr>
          <a:xfrm>
            <a:off x="6126480" y="749808"/>
            <a:ext cx="2743200" cy="384048"/>
          </a:xfrm>
          <a:prstGeom prst="rect">
            <a:avLst/>
          </a:prstGeom>
          <a:solidFill>
            <a:srgbClr val="059669"/>
          </a:solidFill>
          <a:ln/>
        </p:spPr>
      </p:sp>
      <p:sp>
        <p:nvSpPr>
          <p:cNvPr id="25" name="Text 23"/>
          <p:cNvSpPr/>
          <p:nvPr/>
        </p:nvSpPr>
        <p:spPr>
          <a:xfrm>
            <a:off x="6126480" y="768096"/>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Transformer-Based</a:t>
            </a:r>
            <a:endParaRPr lang="en-US" sz="1200" dirty="0"/>
          </a:p>
        </p:txBody>
      </p:sp>
      <p:sp>
        <p:nvSpPr>
          <p:cNvPr id="26" name="Shape 24"/>
          <p:cNvSpPr/>
          <p:nvPr/>
        </p:nvSpPr>
        <p:spPr>
          <a:xfrm>
            <a:off x="6126480" y="1207008"/>
            <a:ext cx="2743200" cy="1783080"/>
          </a:xfrm>
          <a:prstGeom prst="rect">
            <a:avLst/>
          </a:prstGeom>
          <a:solidFill>
            <a:srgbClr val="F0FDF4"/>
          </a:solidFill>
          <a:ln w="10160">
            <a:solidFill>
              <a:srgbClr val="059669"/>
            </a:solidFill>
            <a:prstDash val="solid"/>
          </a:ln>
        </p:spPr>
      </p:sp>
      <p:sp>
        <p:nvSpPr>
          <p:cNvPr id="27" name="Text 25"/>
          <p:cNvSpPr/>
          <p:nvPr/>
        </p:nvSpPr>
        <p:spPr>
          <a:xfrm>
            <a:off x="6217920" y="1280160"/>
            <a:ext cx="2560320" cy="274320"/>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RoBERTa (Fine-tuned)</a:t>
            </a:r>
            <a:endParaRPr lang="en-US" sz="1150" dirty="0"/>
          </a:p>
        </p:txBody>
      </p:sp>
      <p:sp>
        <p:nvSpPr>
          <p:cNvPr id="28" name="Shape 26"/>
          <p:cNvSpPr/>
          <p:nvPr/>
        </p:nvSpPr>
        <p:spPr>
          <a:xfrm>
            <a:off x="6217920" y="1591056"/>
            <a:ext cx="2560320" cy="18288"/>
          </a:xfrm>
          <a:prstGeom prst="rect">
            <a:avLst/>
          </a:prstGeom>
          <a:solidFill>
            <a:srgbClr val="059669"/>
          </a:solidFill>
          <a:ln/>
        </p:spPr>
      </p:sp>
      <p:sp>
        <p:nvSpPr>
          <p:cNvPr id="29" name="Text 27"/>
          <p:cNvSpPr/>
          <p:nvPr/>
        </p:nvSpPr>
        <p:spPr>
          <a:xfrm>
            <a:off x="6217920" y="166420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roberta-base · 12 layers unfrozen (top 4 + head)</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AdamW lr=2e-5 · 5 epochs · fp16 · batch 16</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Partial layer freezing prevents catastrophic forgetting</a:t>
            </a:r>
            <a:endParaRPr lang="en-US" sz="1000" dirty="0"/>
          </a:p>
        </p:txBody>
      </p:sp>
      <p:sp>
        <p:nvSpPr>
          <p:cNvPr id="30" name="Shape 28"/>
          <p:cNvSpPr/>
          <p:nvPr/>
        </p:nvSpPr>
        <p:spPr>
          <a:xfrm>
            <a:off x="6126480" y="3127248"/>
            <a:ext cx="2743200" cy="1783080"/>
          </a:xfrm>
          <a:prstGeom prst="rect">
            <a:avLst/>
          </a:prstGeom>
          <a:solidFill>
            <a:srgbClr val="F0FDF4"/>
          </a:solidFill>
          <a:ln w="10160">
            <a:solidFill>
              <a:srgbClr val="059669"/>
            </a:solidFill>
            <a:prstDash val="solid"/>
          </a:ln>
        </p:spPr>
      </p:sp>
      <p:sp>
        <p:nvSpPr>
          <p:cNvPr id="31" name="Text 29"/>
          <p:cNvSpPr/>
          <p:nvPr/>
        </p:nvSpPr>
        <p:spPr>
          <a:xfrm>
            <a:off x="6217920" y="3200400"/>
            <a:ext cx="2560320" cy="274320"/>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ALBERT (Fine-tuned)</a:t>
            </a:r>
            <a:endParaRPr lang="en-US" sz="1150" dirty="0"/>
          </a:p>
        </p:txBody>
      </p:sp>
      <p:sp>
        <p:nvSpPr>
          <p:cNvPr id="32" name="Shape 30"/>
          <p:cNvSpPr/>
          <p:nvPr/>
        </p:nvSpPr>
        <p:spPr>
          <a:xfrm>
            <a:off x="6217920" y="3511296"/>
            <a:ext cx="2560320" cy="18288"/>
          </a:xfrm>
          <a:prstGeom prst="rect">
            <a:avLst/>
          </a:prstGeom>
          <a:solidFill>
            <a:srgbClr val="059669"/>
          </a:solidFill>
          <a:ln/>
        </p:spPr>
      </p:sp>
      <p:sp>
        <p:nvSpPr>
          <p:cNvPr id="33" name="Text 31"/>
          <p:cNvSpPr/>
          <p:nvPr/>
        </p:nvSpPr>
        <p:spPr>
          <a:xfrm>
            <a:off x="6217920" y="3584448"/>
            <a:ext cx="2560320" cy="1234440"/>
          </a:xfrm>
          <a:prstGeom prst="rect">
            <a:avLst/>
          </a:prstGeom>
          <a:noFill/>
          <a:ln/>
        </p:spPr>
        <p:txBody>
          <a:bodyPr wrap="square" lIns="0" tIns="0" rIns="0" bIns="0" rtlCol="0" anchor="t"/>
          <a:lstStyle/>
          <a:p>
            <a:pPr indent="0" marL="0">
              <a:buNone/>
            </a:pPr>
            <a:r>
              <a:rPr lang="en-US" sz="1000" dirty="0">
                <a:solidFill>
                  <a:srgbClr val="0F172A"/>
                </a:solidFill>
                <a:latin typeface="Calibri" pitchFamily="34" charset="0"/>
                <a:ea typeface="Calibri" pitchFamily="34" charset="-122"/>
                <a:cs typeface="Calibri" pitchFamily="34" charset="-120"/>
              </a:rPr>
              <a:t>albert-base-v2 · 12 shared-parameter layers</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89% fewer params than BERT-base (12M vs 110M)</a:t>
            </a:r>
            <a:endParaRPr lang="en-US" sz="1000" dirty="0"/>
          </a:p>
          <a:p>
            <a:pPr indent="0" marL="0">
              <a:buNone/>
            </a:pPr>
            <a:r>
              <a:rPr lang="en-US" sz="1000" dirty="0">
                <a:solidFill>
                  <a:srgbClr val="0F172A"/>
                </a:solidFill>
                <a:latin typeface="Calibri" pitchFamily="34" charset="0"/>
                <a:ea typeface="Calibri" pitchFamily="34" charset="-122"/>
                <a:cs typeface="Calibri" pitchFamily="34" charset="-120"/>
              </a:rPr>
              <a:t>SentencePiece tokenizer · same training config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Results — Long-Form Datasets: ISOT &amp; Fake &amp; Real News</a:t>
            </a:r>
            <a:endParaRPr lang="en-US" sz="2400" dirty="0"/>
          </a:p>
        </p:txBody>
      </p:sp>
      <p:sp>
        <p:nvSpPr>
          <p:cNvPr id="3" name="Shape 1"/>
          <p:cNvSpPr/>
          <p:nvPr/>
        </p:nvSpPr>
        <p:spPr>
          <a:xfrm>
            <a:off x="365760" y="594360"/>
            <a:ext cx="8412480" cy="22860"/>
          </a:xfrm>
          <a:prstGeom prst="rect">
            <a:avLst/>
          </a:prstGeom>
          <a:solidFill>
            <a:srgbClr val="3B82F6"/>
          </a:solidFill>
          <a:ln/>
        </p:spPr>
      </p:sp>
      <p:graphicFrame>
        <p:nvGraphicFramePr>
          <p:cNvPr id="4" name="Chart 0" descr=""/>
          <p:cNvGraphicFramePr/>
          <p:nvPr/>
        </p:nvGraphicFramePr>
        <p:xfrm>
          <a:off x="365760" y="731520"/>
          <a:ext cx="502920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777240"/>
            <a:ext cx="3200400" cy="1143000"/>
          </a:xfrm>
          <a:prstGeom prst="rect">
            <a:avLst/>
          </a:prstGeom>
          <a:solidFill>
            <a:srgbClr val="DCFCE7"/>
          </a:solidFill>
          <a:ln w="12700">
            <a:solidFill>
              <a:srgbClr val="059669"/>
            </a:solidFill>
            <a:prstDash val="solid"/>
          </a:ln>
        </p:spPr>
      </p:sp>
      <p:sp>
        <p:nvSpPr>
          <p:cNvPr id="6" name="Text 3"/>
          <p:cNvSpPr/>
          <p:nvPr/>
        </p:nvSpPr>
        <p:spPr>
          <a:xfrm>
            <a:off x="5577840" y="822960"/>
            <a:ext cx="3200400" cy="566928"/>
          </a:xfrm>
          <a:prstGeom prst="rect">
            <a:avLst/>
          </a:prstGeom>
          <a:noFill/>
          <a:ln/>
        </p:spPr>
        <p:txBody>
          <a:bodyPr wrap="square" lIns="0" tIns="0" rIns="0" bIns="0" rtlCol="0" anchor="ctr"/>
          <a:lstStyle/>
          <a:p>
            <a:pPr algn="ctr" indent="0" marL="0">
              <a:buNone/>
            </a:pPr>
            <a:r>
              <a:rPr lang="en-US" sz="3000" b="1" dirty="0">
                <a:solidFill>
                  <a:srgbClr val="059669"/>
                </a:solidFill>
                <a:latin typeface="Calibri" pitchFamily="34" charset="0"/>
                <a:ea typeface="Calibri" pitchFamily="34" charset="-122"/>
                <a:cs typeface="Calibri" pitchFamily="34" charset="-120"/>
              </a:rPr>
              <a:t>99.78%</a:t>
            </a:r>
            <a:endParaRPr lang="en-US" sz="3000" dirty="0"/>
          </a:p>
        </p:txBody>
      </p:sp>
      <p:sp>
        <p:nvSpPr>
          <p:cNvPr id="7" name="Text 4"/>
          <p:cNvSpPr/>
          <p:nvPr/>
        </p:nvSpPr>
        <p:spPr>
          <a:xfrm>
            <a:off x="5577840" y="1399032"/>
            <a:ext cx="3200400" cy="457200"/>
          </a:xfrm>
          <a:prstGeom prst="rect">
            <a:avLst/>
          </a:prstGeom>
          <a:noFill/>
          <a:ln/>
        </p:spPr>
        <p:txBody>
          <a:bodyPr wrap="square" lIns="0" tIns="0" rIns="0" bIns="0" rtlCol="0" anchor="ctr"/>
          <a:lstStyle/>
          <a:p>
            <a:pPr algn="ctr" indent="0" marL="0">
              <a:buNone/>
            </a:pPr>
            <a:r>
              <a:rPr lang="en-US" sz="1050" dirty="0">
                <a:solidFill>
                  <a:srgbClr val="0F172A"/>
                </a:solidFill>
                <a:latin typeface="Calibri" pitchFamily="34" charset="0"/>
                <a:ea typeface="Calibri" pitchFamily="34" charset="-122"/>
                <a:cs typeface="Calibri" pitchFamily="34" charset="-120"/>
              </a:rPr>
              <a:t>RoBERTa on ISOT</a:t>
            </a:r>
            <a:endParaRPr lang="en-US" sz="1050" dirty="0"/>
          </a:p>
          <a:p>
            <a:pPr algn="ctr" indent="0" marL="0">
              <a:buNone/>
            </a:pPr>
            <a:r>
              <a:rPr lang="en-US" sz="1050" dirty="0">
                <a:solidFill>
                  <a:srgbClr val="0F172A"/>
                </a:solidFill>
                <a:latin typeface="Calibri" pitchFamily="34" charset="0"/>
                <a:ea typeface="Calibri" pitchFamily="34" charset="-122"/>
                <a:cs typeface="Calibri" pitchFamily="34" charset="-120"/>
              </a:rPr>
              <a:t>(Best overall accuracy)</a:t>
            </a:r>
            <a:endParaRPr lang="en-US" sz="1050" dirty="0"/>
          </a:p>
        </p:txBody>
      </p:sp>
      <p:sp>
        <p:nvSpPr>
          <p:cNvPr id="8" name="Shape 5"/>
          <p:cNvSpPr/>
          <p:nvPr/>
        </p:nvSpPr>
        <p:spPr>
          <a:xfrm>
            <a:off x="5577840" y="2075688"/>
            <a:ext cx="3200400" cy="1143000"/>
          </a:xfrm>
          <a:prstGeom prst="rect">
            <a:avLst/>
          </a:prstGeom>
          <a:solidFill>
            <a:srgbClr val="DBEAFE"/>
          </a:solidFill>
          <a:ln w="12700">
            <a:solidFill>
              <a:srgbClr val="1D4ED8"/>
            </a:solidFill>
            <a:prstDash val="solid"/>
          </a:ln>
        </p:spPr>
      </p:sp>
      <p:sp>
        <p:nvSpPr>
          <p:cNvPr id="9" name="Text 6"/>
          <p:cNvSpPr/>
          <p:nvPr/>
        </p:nvSpPr>
        <p:spPr>
          <a:xfrm>
            <a:off x="5577840" y="2121408"/>
            <a:ext cx="3200400" cy="566928"/>
          </a:xfrm>
          <a:prstGeom prst="rect">
            <a:avLst/>
          </a:prstGeom>
          <a:noFill/>
          <a:ln/>
        </p:spPr>
        <p:txBody>
          <a:bodyPr wrap="square" lIns="0" tIns="0" rIns="0" bIns="0" rtlCol="0" anchor="ctr"/>
          <a:lstStyle/>
          <a:p>
            <a:pPr algn="ctr" indent="0" marL="0">
              <a:buNone/>
            </a:pPr>
            <a:r>
              <a:rPr lang="en-US" sz="3000" b="1" dirty="0">
                <a:solidFill>
                  <a:srgbClr val="1D4ED8"/>
                </a:solidFill>
                <a:latin typeface="Calibri" pitchFamily="34" charset="0"/>
                <a:ea typeface="Calibri" pitchFamily="34" charset="-122"/>
                <a:cs typeface="Calibri" pitchFamily="34" charset="-120"/>
              </a:rPr>
              <a:t>99.16%</a:t>
            </a:r>
            <a:endParaRPr lang="en-US" sz="3000" dirty="0"/>
          </a:p>
        </p:txBody>
      </p:sp>
      <p:sp>
        <p:nvSpPr>
          <p:cNvPr id="10" name="Text 7"/>
          <p:cNvSpPr/>
          <p:nvPr/>
        </p:nvSpPr>
        <p:spPr>
          <a:xfrm>
            <a:off x="5577840" y="2697480"/>
            <a:ext cx="3200400" cy="457200"/>
          </a:xfrm>
          <a:prstGeom prst="rect">
            <a:avLst/>
          </a:prstGeom>
          <a:noFill/>
          <a:ln/>
        </p:spPr>
        <p:txBody>
          <a:bodyPr wrap="square" lIns="0" tIns="0" rIns="0" bIns="0" rtlCol="0" anchor="ctr"/>
          <a:lstStyle/>
          <a:p>
            <a:pPr algn="ctr" indent="0" marL="0">
              <a:buNone/>
            </a:pPr>
            <a:r>
              <a:rPr lang="en-US" sz="1050" dirty="0">
                <a:solidFill>
                  <a:srgbClr val="0F172A"/>
                </a:solidFill>
                <a:latin typeface="Calibri" pitchFamily="34" charset="0"/>
                <a:ea typeface="Calibri" pitchFamily="34" charset="-122"/>
                <a:cs typeface="Calibri" pitchFamily="34" charset="-120"/>
              </a:rPr>
              <a:t>SVM on ISOT</a:t>
            </a:r>
            <a:endParaRPr lang="en-US" sz="1050" dirty="0"/>
          </a:p>
          <a:p>
            <a:pPr algn="ctr" indent="0" marL="0">
              <a:buNone/>
            </a:pPr>
            <a:r>
              <a:rPr lang="en-US" sz="1050" dirty="0">
                <a:solidFill>
                  <a:srgbClr val="0F172A"/>
                </a:solidFill>
                <a:latin typeface="Calibri" pitchFamily="34" charset="0"/>
                <a:ea typeface="Calibri" pitchFamily="34" charset="-122"/>
                <a:cs typeface="Calibri" pitchFamily="34" charset="-120"/>
              </a:rPr>
              <a:t>(50× faster than RoBERTa)</a:t>
            </a:r>
            <a:endParaRPr lang="en-US" sz="1050" dirty="0"/>
          </a:p>
        </p:txBody>
      </p:sp>
      <p:sp>
        <p:nvSpPr>
          <p:cNvPr id="11" name="Shape 8"/>
          <p:cNvSpPr/>
          <p:nvPr/>
        </p:nvSpPr>
        <p:spPr>
          <a:xfrm>
            <a:off x="5577840" y="3374136"/>
            <a:ext cx="3200400" cy="1143000"/>
          </a:xfrm>
          <a:prstGeom prst="rect">
            <a:avLst/>
          </a:prstGeom>
          <a:solidFill>
            <a:srgbClr val="FEF3C7"/>
          </a:solidFill>
          <a:ln w="12700">
            <a:solidFill>
              <a:srgbClr val="B45309"/>
            </a:solidFill>
            <a:prstDash val="solid"/>
          </a:ln>
        </p:spPr>
      </p:sp>
      <p:sp>
        <p:nvSpPr>
          <p:cNvPr id="12" name="Text 9"/>
          <p:cNvSpPr/>
          <p:nvPr/>
        </p:nvSpPr>
        <p:spPr>
          <a:xfrm>
            <a:off x="5577840" y="3419856"/>
            <a:ext cx="3200400" cy="566928"/>
          </a:xfrm>
          <a:prstGeom prst="rect">
            <a:avLst/>
          </a:prstGeom>
          <a:noFill/>
          <a:ln/>
        </p:spPr>
        <p:txBody>
          <a:bodyPr wrap="square" lIns="0" tIns="0" rIns="0" bIns="0" rtlCol="0" anchor="ctr"/>
          <a:lstStyle/>
          <a:p>
            <a:pPr algn="ctr" indent="0" marL="0">
              <a:buNone/>
            </a:pPr>
            <a:r>
              <a:rPr lang="en-US" sz="3000" b="1" dirty="0">
                <a:solidFill>
                  <a:srgbClr val="B45309"/>
                </a:solidFill>
                <a:latin typeface="Calibri" pitchFamily="34" charset="0"/>
                <a:ea typeface="Calibri" pitchFamily="34" charset="-122"/>
                <a:cs typeface="Calibri" pitchFamily="34" charset="-120"/>
              </a:rPr>
              <a:t>93.51%</a:t>
            </a:r>
            <a:endParaRPr lang="en-US" sz="3000" dirty="0"/>
          </a:p>
        </p:txBody>
      </p:sp>
      <p:sp>
        <p:nvSpPr>
          <p:cNvPr id="13" name="Text 10"/>
          <p:cNvSpPr/>
          <p:nvPr/>
        </p:nvSpPr>
        <p:spPr>
          <a:xfrm>
            <a:off x="5577840" y="3995928"/>
            <a:ext cx="3200400" cy="457200"/>
          </a:xfrm>
          <a:prstGeom prst="rect">
            <a:avLst/>
          </a:prstGeom>
          <a:noFill/>
          <a:ln/>
        </p:spPr>
        <p:txBody>
          <a:bodyPr wrap="square" lIns="0" tIns="0" rIns="0" bIns="0" rtlCol="0" anchor="ctr"/>
          <a:lstStyle/>
          <a:p>
            <a:pPr algn="ctr" indent="0" marL="0">
              <a:buNone/>
            </a:pPr>
            <a:r>
              <a:rPr lang="en-US" sz="1050" dirty="0">
                <a:solidFill>
                  <a:srgbClr val="0F172A"/>
                </a:solidFill>
                <a:latin typeface="Calibri" pitchFamily="34" charset="0"/>
                <a:ea typeface="Calibri" pitchFamily="34" charset="-122"/>
                <a:cs typeface="Calibri" pitchFamily="34" charset="-120"/>
              </a:rPr>
              <a:t>Naïve Bayes on ISOT</a:t>
            </a:r>
            <a:endParaRPr lang="en-US" sz="1050" dirty="0"/>
          </a:p>
          <a:p>
            <a:pPr algn="ctr" indent="0" marL="0">
              <a:buNone/>
            </a:pPr>
            <a:r>
              <a:rPr lang="en-US" sz="1050" dirty="0">
                <a:solidFill>
                  <a:srgbClr val="0F172A"/>
                </a:solidFill>
                <a:latin typeface="Calibri" pitchFamily="34" charset="0"/>
                <a:ea typeface="Calibri" pitchFamily="34" charset="-122"/>
                <a:cs typeface="Calibri" pitchFamily="34" charset="-120"/>
              </a:rPr>
              <a:t>(Strong classical baseline)</a:t>
            </a:r>
            <a:endParaRPr lang="en-US" sz="1050" dirty="0"/>
          </a:p>
        </p:txBody>
      </p:sp>
      <p:sp>
        <p:nvSpPr>
          <p:cNvPr id="14" name="Text 11"/>
          <p:cNvSpPr/>
          <p:nvPr/>
        </p:nvSpPr>
        <p:spPr>
          <a:xfrm>
            <a:off x="365760" y="4754880"/>
            <a:ext cx="8412480" cy="246888"/>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ISOT Acc. vs Embedding: TF-IDF → GloVe/W2V → BERT shows consistent gains across all model families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Results — Short-Form Datasets: LIAR, GossipCop &amp; Twitter</a:t>
            </a:r>
            <a:endParaRPr lang="en-US" sz="2400" dirty="0"/>
          </a:p>
        </p:txBody>
      </p:sp>
      <p:sp>
        <p:nvSpPr>
          <p:cNvPr id="3" name="Shape 1"/>
          <p:cNvSpPr/>
          <p:nvPr/>
        </p:nvSpPr>
        <p:spPr>
          <a:xfrm>
            <a:off x="365760" y="594360"/>
            <a:ext cx="8412480" cy="22860"/>
          </a:xfrm>
          <a:prstGeom prst="rect">
            <a:avLst/>
          </a:prstGeom>
          <a:solidFill>
            <a:srgbClr val="3B82F6"/>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749808"/>
          <a:ext cx="8503920" cy="3017520"/>
        </p:xfrm>
        <a:graphic>
          <a:graphicData uri="http://schemas.openxmlformats.org/drawingml/2006/table">
            <a:tbl>
              <a:tblPr/>
              <a:tblGrid>
                <a:gridCol w="1417320"/>
                <a:gridCol w="1417320"/>
                <a:gridCol w="1417320"/>
                <a:gridCol w="1417320"/>
                <a:gridCol w="1417320"/>
                <a:gridCol w="1417320"/>
              </a:tblGrid>
              <a:tr h="41148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LIAR F1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GossipCop F1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Twitter15 F1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Twitter16 F1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Embedding</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0B1E45"/>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Naïve Bayes</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57.6%</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81.1%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61.8%</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63.9%</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TF-IDF</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SVM</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62.9%</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89.0%</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69.1%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71.2%</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TF-IDF</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LSTM</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61.3%</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89.9%</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73.2%</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74.8%</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GloVe</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BiLSTM</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64.1%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91.2%</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Word2Vec</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RoBERTa</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68.5%</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96.1%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79.1%</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80.9%</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BERT tok.</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DCFCE7"/>
                    </a:solidFill>
                  </a:tcPr>
                </a:tc>
              </a:tr>
              <a:tr h="41148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ALBERT</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66.7%</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95.4%</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77.8%</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79.3%</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BERT tok.</a:t>
                      </a:r>
                      <a:endParaRPr lang="en-US" sz="1150" dirty="0">
                        <a:latin typeface="Calibri" charset="0"/>
                        <a:ea typeface="Calibri" charset="0"/>
                        <a:cs typeface="Calibri" charset="0"/>
                      </a:endParaRPr>
                    </a:p>
                  </a:txBody>
                  <a:tcPr marL="91440" marR="91440" marT="45720" marB="45720" anchor="ctr">
                    <a:lnL w="7620" cap="flat" cmpd="sng" algn="ctr">
                      <a:solidFill>
                        <a:srgbClr val="BFDBFE"/>
                      </a:solidFill>
                      <a:prstDash val="solid"/>
                      <a:round/>
                      <a:headEnd type="none" w="med" len="med"/>
                      <a:tailEnd type="none" w="med" len="med"/>
                    </a:lnL>
                    <a:lnR w="7620" cap="flat" cmpd="sng" algn="ctr">
                      <a:solidFill>
                        <a:srgbClr val="BFDBFE"/>
                      </a:solidFill>
                      <a:prstDash val="solid"/>
                      <a:round/>
                      <a:headEnd type="none" w="med" len="med"/>
                      <a:tailEnd type="none" w="med" len="med"/>
                    </a:lnR>
                    <a:lnT w="7620" cap="flat" cmpd="sng" algn="ctr">
                      <a:solidFill>
                        <a:srgbClr val="BFDBFE"/>
                      </a:solidFill>
                      <a:prstDash val="solid"/>
                      <a:round/>
                      <a:headEnd type="none" w="med" len="med"/>
                      <a:tailEnd type="none" w="med" len="med"/>
                    </a:lnT>
                    <a:lnB w="7620" cap="flat" cmpd="sng" algn="ctr">
                      <a:solidFill>
                        <a:srgbClr val="BFDBFE"/>
                      </a:solidFill>
                      <a:prstDash val="solid"/>
                      <a:round/>
                      <a:headEnd type="none" w="med" len="med"/>
                      <a:tailEnd type="none" w="med" len="med"/>
                    </a:lnB>
                    <a:solidFill>
                      <a:srgbClr val="F0F6FF"/>
                    </a:solidFill>
                  </a:tcPr>
                </a:tc>
              </a:tr>
            </a:tbl>
          </a:graphicData>
        </a:graphic>
      </p:graphicFrame>
      <p:sp>
        <p:nvSpPr>
          <p:cNvPr id="5" name="Shape 2"/>
          <p:cNvSpPr/>
          <p:nvPr/>
        </p:nvSpPr>
        <p:spPr>
          <a:xfrm>
            <a:off x="320040" y="3931920"/>
            <a:ext cx="2697480" cy="1005840"/>
          </a:xfrm>
          <a:prstGeom prst="rect">
            <a:avLst/>
          </a:prstGeom>
          <a:solidFill>
            <a:srgbClr val="FEE2E2"/>
          </a:solidFill>
          <a:ln w="12700">
            <a:solidFill>
              <a:srgbClr val="DC2626"/>
            </a:solidFill>
            <a:prstDash val="solid"/>
          </a:ln>
        </p:spPr>
      </p:sp>
      <p:sp>
        <p:nvSpPr>
          <p:cNvPr id="6" name="Text 3"/>
          <p:cNvSpPr/>
          <p:nvPr/>
        </p:nvSpPr>
        <p:spPr>
          <a:xfrm>
            <a:off x="320040" y="3977640"/>
            <a:ext cx="2697480" cy="256032"/>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LIAR Challenge</a:t>
            </a:r>
            <a:endParaRPr lang="en-US" sz="1200" dirty="0"/>
          </a:p>
        </p:txBody>
      </p:sp>
      <p:sp>
        <p:nvSpPr>
          <p:cNvPr id="7" name="Text 4"/>
          <p:cNvSpPr/>
          <p:nvPr/>
        </p:nvSpPr>
        <p:spPr>
          <a:xfrm>
            <a:off x="393192" y="4251960"/>
            <a:ext cx="2551176" cy="64008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Max F1 only 68.5% — short political statements</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with no external fact-checking context</a:t>
            </a:r>
            <a:endParaRPr lang="en-US" sz="1000" dirty="0"/>
          </a:p>
        </p:txBody>
      </p:sp>
      <p:sp>
        <p:nvSpPr>
          <p:cNvPr id="8" name="Shape 5"/>
          <p:cNvSpPr/>
          <p:nvPr/>
        </p:nvSpPr>
        <p:spPr>
          <a:xfrm>
            <a:off x="3200400" y="3931920"/>
            <a:ext cx="2697480" cy="1005840"/>
          </a:xfrm>
          <a:prstGeom prst="rect">
            <a:avLst/>
          </a:prstGeom>
          <a:solidFill>
            <a:srgbClr val="DCFCE7"/>
          </a:solidFill>
          <a:ln w="12700">
            <a:solidFill>
              <a:srgbClr val="059669"/>
            </a:solidFill>
            <a:prstDash val="solid"/>
          </a:ln>
        </p:spPr>
      </p:sp>
      <p:sp>
        <p:nvSpPr>
          <p:cNvPr id="9" name="Text 6"/>
          <p:cNvSpPr/>
          <p:nvPr/>
        </p:nvSpPr>
        <p:spPr>
          <a:xfrm>
            <a:off x="3200400" y="3977640"/>
            <a:ext cx="2697480" cy="256032"/>
          </a:xfrm>
          <a:prstGeom prst="rect">
            <a:avLst/>
          </a:prstGeom>
          <a:noFill/>
          <a:ln/>
        </p:spPr>
        <p:txBody>
          <a:bodyPr wrap="square" lIns="0" tIns="0" rIns="0" bIns="0" rtlCol="0" anchor="ctr"/>
          <a:lstStyle/>
          <a:p>
            <a:pPr algn="ctr" indent="0" marL="0">
              <a:buNone/>
            </a:pPr>
            <a:r>
              <a:rPr lang="en-US" sz="1200" b="1" dirty="0">
                <a:solidFill>
                  <a:srgbClr val="059669"/>
                </a:solidFill>
                <a:latin typeface="Calibri" pitchFamily="34" charset="0"/>
                <a:ea typeface="Calibri" pitchFamily="34" charset="-122"/>
                <a:cs typeface="Calibri" pitchFamily="34" charset="-120"/>
              </a:rPr>
              <a:t>GossipCop Success</a:t>
            </a:r>
            <a:endParaRPr lang="en-US" sz="1200" dirty="0"/>
          </a:p>
        </p:txBody>
      </p:sp>
      <p:sp>
        <p:nvSpPr>
          <p:cNvPr id="10" name="Text 7"/>
          <p:cNvSpPr/>
          <p:nvPr/>
        </p:nvSpPr>
        <p:spPr>
          <a:xfrm>
            <a:off x="3273552" y="4251960"/>
            <a:ext cx="2551176" cy="64008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RoBERTa 96.1% — longer articles enable</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strong cross-domain generalization</a:t>
            </a:r>
            <a:endParaRPr lang="en-US" sz="1000" dirty="0"/>
          </a:p>
        </p:txBody>
      </p:sp>
      <p:sp>
        <p:nvSpPr>
          <p:cNvPr id="11" name="Shape 8"/>
          <p:cNvSpPr/>
          <p:nvPr/>
        </p:nvSpPr>
        <p:spPr>
          <a:xfrm>
            <a:off x="6080760" y="3931920"/>
            <a:ext cx="2697480" cy="1005840"/>
          </a:xfrm>
          <a:prstGeom prst="rect">
            <a:avLst/>
          </a:prstGeom>
          <a:solidFill>
            <a:srgbClr val="FEF3C7"/>
          </a:solidFill>
          <a:ln w="12700">
            <a:solidFill>
              <a:srgbClr val="B45309"/>
            </a:solidFill>
            <a:prstDash val="solid"/>
          </a:ln>
        </p:spPr>
      </p:sp>
      <p:sp>
        <p:nvSpPr>
          <p:cNvPr id="12" name="Text 9"/>
          <p:cNvSpPr/>
          <p:nvPr/>
        </p:nvSpPr>
        <p:spPr>
          <a:xfrm>
            <a:off x="6080760" y="3977640"/>
            <a:ext cx="2697480" cy="256032"/>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Twitter Limitation</a:t>
            </a:r>
            <a:endParaRPr lang="en-US" sz="1200" dirty="0"/>
          </a:p>
        </p:txBody>
      </p:sp>
      <p:sp>
        <p:nvSpPr>
          <p:cNvPr id="13" name="Text 10"/>
          <p:cNvSpPr/>
          <p:nvPr/>
        </p:nvSpPr>
        <p:spPr>
          <a:xfrm>
            <a:off x="6153912" y="4251960"/>
            <a:ext cx="2551176" cy="64008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Content-only models peak at 79.4%</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vs. 82.7% F1 for graph-propagation methods</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Live Model Predictions — Sample Test Cases</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Text 2"/>
          <p:cNvSpPr/>
          <p:nvPr/>
        </p:nvSpPr>
        <p:spPr>
          <a:xfrm>
            <a:off x="365760" y="658368"/>
            <a:ext cx="8412480" cy="237744"/>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RoBERTa model output on held-out test samples  ·  Label: 0 = Real, 1 = Fake</a:t>
            </a:r>
            <a:endParaRPr lang="en-US" sz="1050" dirty="0"/>
          </a:p>
        </p:txBody>
      </p:sp>
      <p:sp>
        <p:nvSpPr>
          <p:cNvPr id="5" name="Shape 3"/>
          <p:cNvSpPr/>
          <p:nvPr/>
        </p:nvSpPr>
        <p:spPr>
          <a:xfrm>
            <a:off x="274320" y="932688"/>
            <a:ext cx="4160520" cy="1005840"/>
          </a:xfrm>
          <a:prstGeom prst="rect">
            <a:avLst/>
          </a:prstGeom>
          <a:solidFill>
            <a:srgbClr val="FFF5F5"/>
          </a:solidFill>
          <a:ln w="10160">
            <a:solidFill>
              <a:srgbClr val="DC2626"/>
            </a:solidFill>
            <a:prstDash val="solid"/>
          </a:ln>
          <a:effectLst>
            <a:outerShdw sx="100000" sy="100000" kx="0" ky="0" algn="bl" rotWithShape="0" blurRad="38100" dist="12700" dir="8100000">
              <a:srgbClr val="000000">
                <a:alpha val="5000"/>
              </a:srgbClr>
            </a:outerShdw>
          </a:effectLst>
        </p:spPr>
      </p:sp>
      <p:sp>
        <p:nvSpPr>
          <p:cNvPr id="6" name="Shape 4"/>
          <p:cNvSpPr/>
          <p:nvPr/>
        </p:nvSpPr>
        <p:spPr>
          <a:xfrm>
            <a:off x="274320" y="932688"/>
            <a:ext cx="45720" cy="1005840"/>
          </a:xfrm>
          <a:prstGeom prst="rect">
            <a:avLst/>
          </a:prstGeom>
          <a:solidFill>
            <a:srgbClr val="DC2626"/>
          </a:solidFill>
          <a:ln/>
        </p:spPr>
      </p:sp>
      <p:sp>
        <p:nvSpPr>
          <p:cNvPr id="7" name="Text 5"/>
          <p:cNvSpPr/>
          <p:nvPr/>
        </p:nvSpPr>
        <p:spPr>
          <a:xfrm>
            <a:off x="365760" y="978408"/>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#1</a:t>
            </a:r>
            <a:endParaRPr lang="en-US" sz="900" dirty="0"/>
          </a:p>
        </p:txBody>
      </p:sp>
      <p:sp>
        <p:nvSpPr>
          <p:cNvPr id="8" name="Shape 6"/>
          <p:cNvSpPr/>
          <p:nvPr/>
        </p:nvSpPr>
        <p:spPr>
          <a:xfrm>
            <a:off x="3721608" y="987552"/>
            <a:ext cx="658368" cy="219456"/>
          </a:xfrm>
          <a:prstGeom prst="roundRect">
            <a:avLst>
              <a:gd name="adj" fmla="val 20833"/>
            </a:avLst>
          </a:prstGeom>
          <a:solidFill>
            <a:srgbClr val="DC2626"/>
          </a:solidFill>
          <a:ln/>
        </p:spPr>
      </p:sp>
      <p:sp>
        <p:nvSpPr>
          <p:cNvPr id="9" name="Text 7"/>
          <p:cNvSpPr/>
          <p:nvPr/>
        </p:nvSpPr>
        <p:spPr>
          <a:xfrm>
            <a:off x="3721608" y="987552"/>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FAKE</a:t>
            </a:r>
            <a:endParaRPr lang="en-US" sz="850" dirty="0"/>
          </a:p>
        </p:txBody>
      </p:sp>
      <p:sp>
        <p:nvSpPr>
          <p:cNvPr id="10" name="Text 8"/>
          <p:cNvSpPr/>
          <p:nvPr/>
        </p:nvSpPr>
        <p:spPr>
          <a:xfrm>
            <a:off x="365760" y="1225296"/>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Donald Trump's White House is in chaos, and they are trying to cover it up. Their Russia problems are mounting by the hour...</a:t>
            </a:r>
            <a:endParaRPr lang="en-US" sz="950" dirty="0"/>
          </a:p>
        </p:txBody>
      </p:sp>
      <p:sp>
        <p:nvSpPr>
          <p:cNvPr id="11" name="Text 9"/>
          <p:cNvSpPr/>
          <p:nvPr/>
        </p:nvSpPr>
        <p:spPr>
          <a:xfrm>
            <a:off x="365760" y="1636776"/>
            <a:ext cx="3995928" cy="256032"/>
          </a:xfrm>
          <a:prstGeom prst="rect">
            <a:avLst/>
          </a:prstGeom>
          <a:noFill/>
          <a:ln/>
        </p:spPr>
        <p:txBody>
          <a:bodyPr wrap="square" lIns="0" tIns="0" rIns="0" bIns="0" rtlCol="0" anchor="ctr"/>
          <a:lstStyle/>
          <a:p>
            <a:pPr indent="0" marL="0">
              <a:buNone/>
            </a:pPr>
            <a:r>
              <a:rPr lang="en-US" sz="850" i="1" dirty="0">
                <a:solidFill>
                  <a:srgbClr val="DC2626"/>
                </a:solidFill>
                <a:latin typeface="Calibri" pitchFamily="34" charset="0"/>
                <a:ea typeface="Calibri" pitchFamily="34" charset="-122"/>
                <a:cs typeface="Calibri" pitchFamily="34" charset="-120"/>
              </a:rPr>
              <a:t>⟩ Emotional, partisan language — no dateline or wire attribution</a:t>
            </a:r>
            <a:endParaRPr lang="en-US" sz="850" dirty="0"/>
          </a:p>
        </p:txBody>
      </p:sp>
      <p:sp>
        <p:nvSpPr>
          <p:cNvPr id="12" name="Shape 10"/>
          <p:cNvSpPr/>
          <p:nvPr/>
        </p:nvSpPr>
        <p:spPr>
          <a:xfrm>
            <a:off x="4617720" y="932688"/>
            <a:ext cx="4160520" cy="1005840"/>
          </a:xfrm>
          <a:prstGeom prst="rect">
            <a:avLst/>
          </a:prstGeom>
          <a:solidFill>
            <a:srgbClr val="FFF5F5"/>
          </a:solidFill>
          <a:ln w="10160">
            <a:solidFill>
              <a:srgbClr val="DC2626"/>
            </a:solidFill>
            <a:prstDash val="solid"/>
          </a:ln>
          <a:effectLst>
            <a:outerShdw sx="100000" sy="100000" kx="0" ky="0" algn="bl" rotWithShape="0" blurRad="38100" dist="12700" dir="8100000">
              <a:srgbClr val="000000">
                <a:alpha val="5000"/>
              </a:srgbClr>
            </a:outerShdw>
          </a:effectLst>
        </p:spPr>
      </p:sp>
      <p:sp>
        <p:nvSpPr>
          <p:cNvPr id="13" name="Shape 11"/>
          <p:cNvSpPr/>
          <p:nvPr/>
        </p:nvSpPr>
        <p:spPr>
          <a:xfrm>
            <a:off x="4617720" y="932688"/>
            <a:ext cx="45720" cy="1005840"/>
          </a:xfrm>
          <a:prstGeom prst="rect">
            <a:avLst/>
          </a:prstGeom>
          <a:solidFill>
            <a:srgbClr val="DC2626"/>
          </a:solidFill>
          <a:ln/>
        </p:spPr>
      </p:sp>
      <p:sp>
        <p:nvSpPr>
          <p:cNvPr id="14" name="Text 12"/>
          <p:cNvSpPr/>
          <p:nvPr/>
        </p:nvSpPr>
        <p:spPr>
          <a:xfrm>
            <a:off x="4709160" y="978408"/>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#2</a:t>
            </a:r>
            <a:endParaRPr lang="en-US" sz="900" dirty="0"/>
          </a:p>
        </p:txBody>
      </p:sp>
      <p:sp>
        <p:nvSpPr>
          <p:cNvPr id="15" name="Shape 13"/>
          <p:cNvSpPr/>
          <p:nvPr/>
        </p:nvSpPr>
        <p:spPr>
          <a:xfrm>
            <a:off x="8065008" y="987552"/>
            <a:ext cx="658368" cy="219456"/>
          </a:xfrm>
          <a:prstGeom prst="roundRect">
            <a:avLst>
              <a:gd name="adj" fmla="val 20833"/>
            </a:avLst>
          </a:prstGeom>
          <a:solidFill>
            <a:srgbClr val="DC2626"/>
          </a:solidFill>
          <a:ln/>
        </p:spPr>
      </p:sp>
      <p:sp>
        <p:nvSpPr>
          <p:cNvPr id="16" name="Text 14"/>
          <p:cNvSpPr/>
          <p:nvPr/>
        </p:nvSpPr>
        <p:spPr>
          <a:xfrm>
            <a:off x="8065008" y="987552"/>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FAKE</a:t>
            </a:r>
            <a:endParaRPr lang="en-US" sz="850" dirty="0"/>
          </a:p>
        </p:txBody>
      </p:sp>
      <p:sp>
        <p:nvSpPr>
          <p:cNvPr id="17" name="Text 15"/>
          <p:cNvSpPr/>
          <p:nvPr/>
        </p:nvSpPr>
        <p:spPr>
          <a:xfrm>
            <a:off x="4709160" y="1225296"/>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Now that Donald Trump is the presumptive GOP nominee, it's time to remember all those other candidates who tried so hard to beat him...</a:t>
            </a:r>
            <a:endParaRPr lang="en-US" sz="950" dirty="0"/>
          </a:p>
        </p:txBody>
      </p:sp>
      <p:sp>
        <p:nvSpPr>
          <p:cNvPr id="18" name="Text 16"/>
          <p:cNvSpPr/>
          <p:nvPr/>
        </p:nvSpPr>
        <p:spPr>
          <a:xfrm>
            <a:off x="4709160" y="1636776"/>
            <a:ext cx="3995928" cy="256032"/>
          </a:xfrm>
          <a:prstGeom prst="rect">
            <a:avLst/>
          </a:prstGeom>
          <a:noFill/>
          <a:ln/>
        </p:spPr>
        <p:txBody>
          <a:bodyPr wrap="square" lIns="0" tIns="0" rIns="0" bIns="0" rtlCol="0" anchor="ctr"/>
          <a:lstStyle/>
          <a:p>
            <a:pPr indent="0" marL="0">
              <a:buNone/>
            </a:pPr>
            <a:r>
              <a:rPr lang="en-US" sz="850" i="1" dirty="0">
                <a:solidFill>
                  <a:srgbClr val="DC2626"/>
                </a:solidFill>
                <a:latin typeface="Calibri" pitchFamily="34" charset="0"/>
                <a:ea typeface="Calibri" pitchFamily="34" charset="-122"/>
                <a:cs typeface="Calibri" pitchFamily="34" charset="-120"/>
              </a:rPr>
              <a:t>⟩ Opinion framing — no factual source or citation</a:t>
            </a:r>
            <a:endParaRPr lang="en-US" sz="850" dirty="0"/>
          </a:p>
        </p:txBody>
      </p:sp>
      <p:sp>
        <p:nvSpPr>
          <p:cNvPr id="19" name="Shape 17"/>
          <p:cNvSpPr/>
          <p:nvPr/>
        </p:nvSpPr>
        <p:spPr>
          <a:xfrm>
            <a:off x="274320" y="2011680"/>
            <a:ext cx="4160520" cy="1005840"/>
          </a:xfrm>
          <a:prstGeom prst="rect">
            <a:avLst/>
          </a:prstGeom>
          <a:solidFill>
            <a:srgbClr val="FFF5F5"/>
          </a:solidFill>
          <a:ln w="10160">
            <a:solidFill>
              <a:srgbClr val="DC2626"/>
            </a:solidFill>
            <a:prstDash val="solid"/>
          </a:ln>
          <a:effectLst>
            <a:outerShdw sx="100000" sy="100000" kx="0" ky="0" algn="bl" rotWithShape="0" blurRad="38100" dist="12700" dir="8100000">
              <a:srgbClr val="000000">
                <a:alpha val="5000"/>
              </a:srgbClr>
            </a:outerShdw>
          </a:effectLst>
        </p:spPr>
      </p:sp>
      <p:sp>
        <p:nvSpPr>
          <p:cNvPr id="20" name="Shape 18"/>
          <p:cNvSpPr/>
          <p:nvPr/>
        </p:nvSpPr>
        <p:spPr>
          <a:xfrm>
            <a:off x="274320" y="2011680"/>
            <a:ext cx="45720" cy="1005840"/>
          </a:xfrm>
          <a:prstGeom prst="rect">
            <a:avLst/>
          </a:prstGeom>
          <a:solidFill>
            <a:srgbClr val="DC2626"/>
          </a:solidFill>
          <a:ln/>
        </p:spPr>
      </p:sp>
      <p:sp>
        <p:nvSpPr>
          <p:cNvPr id="21" name="Text 19"/>
          <p:cNvSpPr/>
          <p:nvPr/>
        </p:nvSpPr>
        <p:spPr>
          <a:xfrm>
            <a:off x="365760" y="2057400"/>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#3</a:t>
            </a:r>
            <a:endParaRPr lang="en-US" sz="900" dirty="0"/>
          </a:p>
        </p:txBody>
      </p:sp>
      <p:sp>
        <p:nvSpPr>
          <p:cNvPr id="22" name="Shape 20"/>
          <p:cNvSpPr/>
          <p:nvPr/>
        </p:nvSpPr>
        <p:spPr>
          <a:xfrm>
            <a:off x="3721608" y="2066544"/>
            <a:ext cx="658368" cy="219456"/>
          </a:xfrm>
          <a:prstGeom prst="roundRect">
            <a:avLst>
              <a:gd name="adj" fmla="val 20833"/>
            </a:avLst>
          </a:prstGeom>
          <a:solidFill>
            <a:srgbClr val="DC2626"/>
          </a:solidFill>
          <a:ln/>
        </p:spPr>
      </p:sp>
      <p:sp>
        <p:nvSpPr>
          <p:cNvPr id="23" name="Text 21"/>
          <p:cNvSpPr/>
          <p:nvPr/>
        </p:nvSpPr>
        <p:spPr>
          <a:xfrm>
            <a:off x="3721608" y="2066544"/>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FAKE</a:t>
            </a:r>
            <a:endParaRPr lang="en-US" sz="850" dirty="0"/>
          </a:p>
        </p:txBody>
      </p:sp>
      <p:sp>
        <p:nvSpPr>
          <p:cNvPr id="24" name="Text 22"/>
          <p:cNvSpPr/>
          <p:nvPr/>
        </p:nvSpPr>
        <p:spPr>
          <a:xfrm>
            <a:off x="365760" y="2304288"/>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Mike Pence is a huge homophobe. He supports ex-gay conversion therapy, opposes hate crimes protections for LGBTQ people...</a:t>
            </a:r>
            <a:endParaRPr lang="en-US" sz="950" dirty="0"/>
          </a:p>
        </p:txBody>
      </p:sp>
      <p:sp>
        <p:nvSpPr>
          <p:cNvPr id="25" name="Text 23"/>
          <p:cNvSpPr/>
          <p:nvPr/>
        </p:nvSpPr>
        <p:spPr>
          <a:xfrm>
            <a:off x="365760" y="2715768"/>
            <a:ext cx="3995928" cy="256032"/>
          </a:xfrm>
          <a:prstGeom prst="rect">
            <a:avLst/>
          </a:prstGeom>
          <a:noFill/>
          <a:ln/>
        </p:spPr>
        <p:txBody>
          <a:bodyPr wrap="square" lIns="0" tIns="0" rIns="0" bIns="0" rtlCol="0" anchor="ctr"/>
          <a:lstStyle/>
          <a:p>
            <a:pPr indent="0" marL="0">
              <a:buNone/>
            </a:pPr>
            <a:r>
              <a:rPr lang="en-US" sz="850" i="1" dirty="0">
                <a:solidFill>
                  <a:srgbClr val="DC2626"/>
                </a:solidFill>
                <a:latin typeface="Calibri" pitchFamily="34" charset="0"/>
                <a:ea typeface="Calibri" pitchFamily="34" charset="-122"/>
                <a:cs typeface="Calibri" pitchFamily="34" charset="-120"/>
              </a:rPr>
              <a:t>⟩ Inflammatory, loaded language — lacks neutral journalistic tone</a:t>
            </a:r>
            <a:endParaRPr lang="en-US" sz="850" dirty="0"/>
          </a:p>
        </p:txBody>
      </p:sp>
      <p:sp>
        <p:nvSpPr>
          <p:cNvPr id="26" name="Shape 24"/>
          <p:cNvSpPr/>
          <p:nvPr/>
        </p:nvSpPr>
        <p:spPr>
          <a:xfrm>
            <a:off x="4617720" y="2011680"/>
            <a:ext cx="4160520" cy="1005840"/>
          </a:xfrm>
          <a:prstGeom prst="rect">
            <a:avLst/>
          </a:prstGeom>
          <a:solidFill>
            <a:srgbClr val="F0FDF4"/>
          </a:solidFill>
          <a:ln w="10160">
            <a:solidFill>
              <a:srgbClr val="059669"/>
            </a:solidFill>
            <a:prstDash val="solid"/>
          </a:ln>
          <a:effectLst>
            <a:outerShdw sx="100000" sy="100000" kx="0" ky="0" algn="bl" rotWithShape="0" blurRad="38100" dist="12700" dir="8100000">
              <a:srgbClr val="000000">
                <a:alpha val="5000"/>
              </a:srgbClr>
            </a:outerShdw>
          </a:effectLst>
        </p:spPr>
      </p:sp>
      <p:sp>
        <p:nvSpPr>
          <p:cNvPr id="27" name="Shape 25"/>
          <p:cNvSpPr/>
          <p:nvPr/>
        </p:nvSpPr>
        <p:spPr>
          <a:xfrm>
            <a:off x="4617720" y="2011680"/>
            <a:ext cx="45720" cy="1005840"/>
          </a:xfrm>
          <a:prstGeom prst="rect">
            <a:avLst/>
          </a:prstGeom>
          <a:solidFill>
            <a:srgbClr val="059669"/>
          </a:solidFill>
          <a:ln/>
        </p:spPr>
      </p:sp>
      <p:sp>
        <p:nvSpPr>
          <p:cNvPr id="28" name="Text 26"/>
          <p:cNvSpPr/>
          <p:nvPr/>
        </p:nvSpPr>
        <p:spPr>
          <a:xfrm>
            <a:off x="4709160" y="2057400"/>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#4</a:t>
            </a:r>
            <a:endParaRPr lang="en-US" sz="900" dirty="0"/>
          </a:p>
        </p:txBody>
      </p:sp>
      <p:sp>
        <p:nvSpPr>
          <p:cNvPr id="29" name="Shape 27"/>
          <p:cNvSpPr/>
          <p:nvPr/>
        </p:nvSpPr>
        <p:spPr>
          <a:xfrm>
            <a:off x="8065008" y="2066544"/>
            <a:ext cx="658368" cy="219456"/>
          </a:xfrm>
          <a:prstGeom prst="roundRect">
            <a:avLst>
              <a:gd name="adj" fmla="val 20833"/>
            </a:avLst>
          </a:prstGeom>
          <a:solidFill>
            <a:srgbClr val="059669"/>
          </a:solidFill>
          <a:ln/>
        </p:spPr>
      </p:sp>
      <p:sp>
        <p:nvSpPr>
          <p:cNvPr id="30" name="Text 28"/>
          <p:cNvSpPr/>
          <p:nvPr/>
        </p:nvSpPr>
        <p:spPr>
          <a:xfrm>
            <a:off x="8065008" y="2066544"/>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REAL</a:t>
            </a:r>
            <a:endParaRPr lang="en-US" sz="850" dirty="0"/>
          </a:p>
        </p:txBody>
      </p:sp>
      <p:sp>
        <p:nvSpPr>
          <p:cNvPr id="31" name="Text 29"/>
          <p:cNvSpPr/>
          <p:nvPr/>
        </p:nvSpPr>
        <p:spPr>
          <a:xfrm>
            <a:off x="4709160" y="2304288"/>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SAN FRANCISCO (Reuters) — California Attorney General Xavier Becerra said on Friday he was 'prepared to take whatever action it takes'...</a:t>
            </a:r>
            <a:endParaRPr lang="en-US" sz="950" dirty="0"/>
          </a:p>
        </p:txBody>
      </p:sp>
      <p:sp>
        <p:nvSpPr>
          <p:cNvPr id="32" name="Text 30"/>
          <p:cNvSpPr/>
          <p:nvPr/>
        </p:nvSpPr>
        <p:spPr>
          <a:xfrm>
            <a:off x="4709160" y="2715768"/>
            <a:ext cx="3995928" cy="256032"/>
          </a:xfrm>
          <a:prstGeom prst="rect">
            <a:avLst/>
          </a:prstGeom>
          <a:noFill/>
          <a:ln/>
        </p:spPr>
        <p:txBody>
          <a:bodyPr wrap="square" lIns="0" tIns="0" rIns="0" bIns="0"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 Reuters dateline, named official, factual attribution</a:t>
            </a:r>
            <a:endParaRPr lang="en-US" sz="850" dirty="0"/>
          </a:p>
        </p:txBody>
      </p:sp>
      <p:sp>
        <p:nvSpPr>
          <p:cNvPr id="33" name="Shape 31"/>
          <p:cNvSpPr/>
          <p:nvPr/>
        </p:nvSpPr>
        <p:spPr>
          <a:xfrm>
            <a:off x="274320" y="3090672"/>
            <a:ext cx="4160520" cy="1005840"/>
          </a:xfrm>
          <a:prstGeom prst="rect">
            <a:avLst/>
          </a:prstGeom>
          <a:solidFill>
            <a:srgbClr val="FFF5F5"/>
          </a:solidFill>
          <a:ln w="10160">
            <a:solidFill>
              <a:srgbClr val="DC2626"/>
            </a:solidFill>
            <a:prstDash val="solid"/>
          </a:ln>
          <a:effectLst>
            <a:outerShdw sx="100000" sy="100000" kx="0" ky="0" algn="bl" rotWithShape="0" blurRad="38100" dist="12700" dir="8100000">
              <a:srgbClr val="000000">
                <a:alpha val="5000"/>
              </a:srgbClr>
            </a:outerShdw>
          </a:effectLst>
        </p:spPr>
      </p:sp>
      <p:sp>
        <p:nvSpPr>
          <p:cNvPr id="34" name="Shape 32"/>
          <p:cNvSpPr/>
          <p:nvPr/>
        </p:nvSpPr>
        <p:spPr>
          <a:xfrm>
            <a:off x="274320" y="3090672"/>
            <a:ext cx="45720" cy="1005840"/>
          </a:xfrm>
          <a:prstGeom prst="rect">
            <a:avLst/>
          </a:prstGeom>
          <a:solidFill>
            <a:srgbClr val="DC2626"/>
          </a:solidFill>
          <a:ln/>
        </p:spPr>
      </p:sp>
      <p:sp>
        <p:nvSpPr>
          <p:cNvPr id="35" name="Text 33"/>
          <p:cNvSpPr/>
          <p:nvPr/>
        </p:nvSpPr>
        <p:spPr>
          <a:xfrm>
            <a:off x="365760" y="3136392"/>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#5</a:t>
            </a:r>
            <a:endParaRPr lang="en-US" sz="900" dirty="0"/>
          </a:p>
        </p:txBody>
      </p:sp>
      <p:sp>
        <p:nvSpPr>
          <p:cNvPr id="36" name="Shape 34"/>
          <p:cNvSpPr/>
          <p:nvPr/>
        </p:nvSpPr>
        <p:spPr>
          <a:xfrm>
            <a:off x="3721608" y="3145536"/>
            <a:ext cx="658368" cy="219456"/>
          </a:xfrm>
          <a:prstGeom prst="roundRect">
            <a:avLst>
              <a:gd name="adj" fmla="val 20833"/>
            </a:avLst>
          </a:prstGeom>
          <a:solidFill>
            <a:srgbClr val="DC2626"/>
          </a:solidFill>
          <a:ln/>
        </p:spPr>
      </p:sp>
      <p:sp>
        <p:nvSpPr>
          <p:cNvPr id="37" name="Text 35"/>
          <p:cNvSpPr/>
          <p:nvPr/>
        </p:nvSpPr>
        <p:spPr>
          <a:xfrm>
            <a:off x="3721608" y="3145536"/>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FAKE</a:t>
            </a:r>
            <a:endParaRPr lang="en-US" sz="850" dirty="0"/>
          </a:p>
        </p:txBody>
      </p:sp>
      <p:sp>
        <p:nvSpPr>
          <p:cNvPr id="38" name="Text 36"/>
          <p:cNvSpPr/>
          <p:nvPr/>
        </p:nvSpPr>
        <p:spPr>
          <a:xfrm>
            <a:off x="365760" y="3383280"/>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Twisted reasoning is all that comes from Pelosi these days especially when in 2006 most prominent Democrats voted to build a barrier...</a:t>
            </a:r>
            <a:endParaRPr lang="en-US" sz="950" dirty="0"/>
          </a:p>
        </p:txBody>
      </p:sp>
      <p:sp>
        <p:nvSpPr>
          <p:cNvPr id="39" name="Text 37"/>
          <p:cNvSpPr/>
          <p:nvPr/>
        </p:nvSpPr>
        <p:spPr>
          <a:xfrm>
            <a:off x="365760" y="3794760"/>
            <a:ext cx="3995928" cy="256032"/>
          </a:xfrm>
          <a:prstGeom prst="rect">
            <a:avLst/>
          </a:prstGeom>
          <a:noFill/>
          <a:ln/>
        </p:spPr>
        <p:txBody>
          <a:bodyPr wrap="square" lIns="0" tIns="0" rIns="0" bIns="0" rtlCol="0" anchor="ctr"/>
          <a:lstStyle/>
          <a:p>
            <a:pPr indent="0" marL="0">
              <a:buNone/>
            </a:pPr>
            <a:r>
              <a:rPr lang="en-US" sz="850" i="1" dirty="0">
                <a:solidFill>
                  <a:srgbClr val="DC2626"/>
                </a:solidFill>
                <a:latin typeface="Calibri" pitchFamily="34" charset="0"/>
                <a:ea typeface="Calibri" pitchFamily="34" charset="-122"/>
                <a:cs typeface="Calibri" pitchFamily="34" charset="-120"/>
              </a:rPr>
              <a:t>⟩ Rhetorical attack, no wire service or neutral framing</a:t>
            </a:r>
            <a:endParaRPr lang="en-US" sz="850" dirty="0"/>
          </a:p>
        </p:txBody>
      </p:sp>
      <p:sp>
        <p:nvSpPr>
          <p:cNvPr id="40" name="Shape 38"/>
          <p:cNvSpPr/>
          <p:nvPr/>
        </p:nvSpPr>
        <p:spPr>
          <a:xfrm>
            <a:off x="4617720" y="3090672"/>
            <a:ext cx="4160520" cy="1005840"/>
          </a:xfrm>
          <a:prstGeom prst="rect">
            <a:avLst/>
          </a:prstGeom>
          <a:solidFill>
            <a:srgbClr val="F0FDF4"/>
          </a:solidFill>
          <a:ln w="10160">
            <a:solidFill>
              <a:srgbClr val="059669"/>
            </a:solidFill>
            <a:prstDash val="solid"/>
          </a:ln>
          <a:effectLst>
            <a:outerShdw sx="100000" sy="100000" kx="0" ky="0" algn="bl" rotWithShape="0" blurRad="38100" dist="12700" dir="8100000">
              <a:srgbClr val="000000">
                <a:alpha val="5000"/>
              </a:srgbClr>
            </a:outerShdw>
          </a:effectLst>
        </p:spPr>
      </p:sp>
      <p:sp>
        <p:nvSpPr>
          <p:cNvPr id="41" name="Shape 39"/>
          <p:cNvSpPr/>
          <p:nvPr/>
        </p:nvSpPr>
        <p:spPr>
          <a:xfrm>
            <a:off x="4617720" y="3090672"/>
            <a:ext cx="45720" cy="1005840"/>
          </a:xfrm>
          <a:prstGeom prst="rect">
            <a:avLst/>
          </a:prstGeom>
          <a:solidFill>
            <a:srgbClr val="059669"/>
          </a:solidFill>
          <a:ln/>
        </p:spPr>
      </p:sp>
      <p:sp>
        <p:nvSpPr>
          <p:cNvPr id="42" name="Text 40"/>
          <p:cNvSpPr/>
          <p:nvPr/>
        </p:nvSpPr>
        <p:spPr>
          <a:xfrm>
            <a:off x="4709160" y="3136392"/>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#6</a:t>
            </a:r>
            <a:endParaRPr lang="en-US" sz="900" dirty="0"/>
          </a:p>
        </p:txBody>
      </p:sp>
      <p:sp>
        <p:nvSpPr>
          <p:cNvPr id="43" name="Shape 41"/>
          <p:cNvSpPr/>
          <p:nvPr/>
        </p:nvSpPr>
        <p:spPr>
          <a:xfrm>
            <a:off x="8065008" y="3145536"/>
            <a:ext cx="658368" cy="219456"/>
          </a:xfrm>
          <a:prstGeom prst="roundRect">
            <a:avLst>
              <a:gd name="adj" fmla="val 20833"/>
            </a:avLst>
          </a:prstGeom>
          <a:solidFill>
            <a:srgbClr val="059669"/>
          </a:solidFill>
          <a:ln/>
        </p:spPr>
      </p:sp>
      <p:sp>
        <p:nvSpPr>
          <p:cNvPr id="44" name="Text 42"/>
          <p:cNvSpPr/>
          <p:nvPr/>
        </p:nvSpPr>
        <p:spPr>
          <a:xfrm>
            <a:off x="8065008" y="3145536"/>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REAL</a:t>
            </a:r>
            <a:endParaRPr lang="en-US" sz="850" dirty="0"/>
          </a:p>
        </p:txBody>
      </p:sp>
      <p:sp>
        <p:nvSpPr>
          <p:cNvPr id="45" name="Text 43"/>
          <p:cNvSpPr/>
          <p:nvPr/>
        </p:nvSpPr>
        <p:spPr>
          <a:xfrm>
            <a:off x="4709160" y="3383280"/>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WASHINGTON (Reuters) — As a lawyer in private practice for a decade, President Donald Trump's U.S. Supreme Court nominee Neil Gorsuch...</a:t>
            </a:r>
            <a:endParaRPr lang="en-US" sz="950" dirty="0"/>
          </a:p>
        </p:txBody>
      </p:sp>
      <p:sp>
        <p:nvSpPr>
          <p:cNvPr id="46" name="Text 44"/>
          <p:cNvSpPr/>
          <p:nvPr/>
        </p:nvSpPr>
        <p:spPr>
          <a:xfrm>
            <a:off x="4709160" y="3794760"/>
            <a:ext cx="3995928" cy="256032"/>
          </a:xfrm>
          <a:prstGeom prst="rect">
            <a:avLst/>
          </a:prstGeom>
          <a:noFill/>
          <a:ln/>
        </p:spPr>
        <p:txBody>
          <a:bodyPr wrap="square" lIns="0" tIns="0" rIns="0" bIns="0"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 Wire dateline, official government context, neutral language</a:t>
            </a:r>
            <a:endParaRPr lang="en-US" sz="850" dirty="0"/>
          </a:p>
        </p:txBody>
      </p:sp>
      <p:sp>
        <p:nvSpPr>
          <p:cNvPr id="47" name="Shape 45"/>
          <p:cNvSpPr/>
          <p:nvPr/>
        </p:nvSpPr>
        <p:spPr>
          <a:xfrm>
            <a:off x="274320" y="4169664"/>
            <a:ext cx="4160520" cy="1005840"/>
          </a:xfrm>
          <a:prstGeom prst="rect">
            <a:avLst/>
          </a:prstGeom>
          <a:solidFill>
            <a:srgbClr val="F0FDF4"/>
          </a:solidFill>
          <a:ln w="10160">
            <a:solidFill>
              <a:srgbClr val="059669"/>
            </a:solidFill>
            <a:prstDash val="solid"/>
          </a:ln>
          <a:effectLst>
            <a:outerShdw sx="100000" sy="100000" kx="0" ky="0" algn="bl" rotWithShape="0" blurRad="38100" dist="12700" dir="8100000">
              <a:srgbClr val="000000">
                <a:alpha val="5000"/>
              </a:srgbClr>
            </a:outerShdw>
          </a:effectLst>
        </p:spPr>
      </p:sp>
      <p:sp>
        <p:nvSpPr>
          <p:cNvPr id="48" name="Shape 46"/>
          <p:cNvSpPr/>
          <p:nvPr/>
        </p:nvSpPr>
        <p:spPr>
          <a:xfrm>
            <a:off x="274320" y="4169664"/>
            <a:ext cx="45720" cy="1005840"/>
          </a:xfrm>
          <a:prstGeom prst="rect">
            <a:avLst/>
          </a:prstGeom>
          <a:solidFill>
            <a:srgbClr val="059669"/>
          </a:solidFill>
          <a:ln/>
        </p:spPr>
      </p:sp>
      <p:sp>
        <p:nvSpPr>
          <p:cNvPr id="49" name="Text 47"/>
          <p:cNvSpPr/>
          <p:nvPr/>
        </p:nvSpPr>
        <p:spPr>
          <a:xfrm>
            <a:off x="365760" y="4215384"/>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#7</a:t>
            </a:r>
            <a:endParaRPr lang="en-US" sz="900" dirty="0"/>
          </a:p>
        </p:txBody>
      </p:sp>
      <p:sp>
        <p:nvSpPr>
          <p:cNvPr id="50" name="Shape 48"/>
          <p:cNvSpPr/>
          <p:nvPr/>
        </p:nvSpPr>
        <p:spPr>
          <a:xfrm>
            <a:off x="3721608" y="4224528"/>
            <a:ext cx="658368" cy="219456"/>
          </a:xfrm>
          <a:prstGeom prst="roundRect">
            <a:avLst>
              <a:gd name="adj" fmla="val 20833"/>
            </a:avLst>
          </a:prstGeom>
          <a:solidFill>
            <a:srgbClr val="059669"/>
          </a:solidFill>
          <a:ln/>
        </p:spPr>
      </p:sp>
      <p:sp>
        <p:nvSpPr>
          <p:cNvPr id="51" name="Text 49"/>
          <p:cNvSpPr/>
          <p:nvPr/>
        </p:nvSpPr>
        <p:spPr>
          <a:xfrm>
            <a:off x="3721608" y="4224528"/>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REAL</a:t>
            </a:r>
            <a:endParaRPr lang="en-US" sz="850" dirty="0"/>
          </a:p>
        </p:txBody>
      </p:sp>
      <p:sp>
        <p:nvSpPr>
          <p:cNvPr id="52" name="Text 50"/>
          <p:cNvSpPr/>
          <p:nvPr/>
        </p:nvSpPr>
        <p:spPr>
          <a:xfrm>
            <a:off x="365760" y="4462272"/>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ADEN (Reuters) — A Salafist imam was shot dead by gunmen early on Saturday in Aden, southern Yemen, witnesses and local officials said...</a:t>
            </a:r>
            <a:endParaRPr lang="en-US" sz="950" dirty="0"/>
          </a:p>
        </p:txBody>
      </p:sp>
      <p:sp>
        <p:nvSpPr>
          <p:cNvPr id="53" name="Text 51"/>
          <p:cNvSpPr/>
          <p:nvPr/>
        </p:nvSpPr>
        <p:spPr>
          <a:xfrm>
            <a:off x="365760" y="4873752"/>
            <a:ext cx="3995928" cy="256032"/>
          </a:xfrm>
          <a:prstGeom prst="rect">
            <a:avLst/>
          </a:prstGeom>
          <a:noFill/>
          <a:ln/>
        </p:spPr>
        <p:txBody>
          <a:bodyPr wrap="square" lIns="0" tIns="0" rIns="0" bIns="0"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 Location dateline, multiple named sources, factual report</a:t>
            </a:r>
            <a:endParaRPr lang="en-US" sz="850" dirty="0"/>
          </a:p>
        </p:txBody>
      </p:sp>
      <p:sp>
        <p:nvSpPr>
          <p:cNvPr id="54" name="Shape 52"/>
          <p:cNvSpPr/>
          <p:nvPr/>
        </p:nvSpPr>
        <p:spPr>
          <a:xfrm>
            <a:off x="4617720" y="4169664"/>
            <a:ext cx="4160520" cy="1005840"/>
          </a:xfrm>
          <a:prstGeom prst="rect">
            <a:avLst/>
          </a:prstGeom>
          <a:solidFill>
            <a:srgbClr val="F0FDF4"/>
          </a:solidFill>
          <a:ln w="10160">
            <a:solidFill>
              <a:srgbClr val="059669"/>
            </a:solidFill>
            <a:prstDash val="solid"/>
          </a:ln>
          <a:effectLst>
            <a:outerShdw sx="100000" sy="100000" kx="0" ky="0" algn="bl" rotWithShape="0" blurRad="38100" dist="12700" dir="8100000">
              <a:srgbClr val="000000">
                <a:alpha val="5000"/>
              </a:srgbClr>
            </a:outerShdw>
          </a:effectLst>
        </p:spPr>
      </p:sp>
      <p:sp>
        <p:nvSpPr>
          <p:cNvPr id="55" name="Shape 53"/>
          <p:cNvSpPr/>
          <p:nvPr/>
        </p:nvSpPr>
        <p:spPr>
          <a:xfrm>
            <a:off x="4617720" y="4169664"/>
            <a:ext cx="45720" cy="1005840"/>
          </a:xfrm>
          <a:prstGeom prst="rect">
            <a:avLst/>
          </a:prstGeom>
          <a:solidFill>
            <a:srgbClr val="059669"/>
          </a:solidFill>
          <a:ln/>
        </p:spPr>
      </p:sp>
      <p:sp>
        <p:nvSpPr>
          <p:cNvPr id="56" name="Text 54"/>
          <p:cNvSpPr/>
          <p:nvPr/>
        </p:nvSpPr>
        <p:spPr>
          <a:xfrm>
            <a:off x="4709160" y="4215384"/>
            <a:ext cx="274320" cy="219456"/>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#8</a:t>
            </a:r>
            <a:endParaRPr lang="en-US" sz="900" dirty="0"/>
          </a:p>
        </p:txBody>
      </p:sp>
      <p:sp>
        <p:nvSpPr>
          <p:cNvPr id="57" name="Shape 55"/>
          <p:cNvSpPr/>
          <p:nvPr/>
        </p:nvSpPr>
        <p:spPr>
          <a:xfrm>
            <a:off x="8065008" y="4224528"/>
            <a:ext cx="658368" cy="219456"/>
          </a:xfrm>
          <a:prstGeom prst="roundRect">
            <a:avLst>
              <a:gd name="adj" fmla="val 20833"/>
            </a:avLst>
          </a:prstGeom>
          <a:solidFill>
            <a:srgbClr val="059669"/>
          </a:solidFill>
          <a:ln/>
        </p:spPr>
      </p:sp>
      <p:sp>
        <p:nvSpPr>
          <p:cNvPr id="58" name="Text 56"/>
          <p:cNvSpPr/>
          <p:nvPr/>
        </p:nvSpPr>
        <p:spPr>
          <a:xfrm>
            <a:off x="8065008" y="4224528"/>
            <a:ext cx="65836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REAL</a:t>
            </a:r>
            <a:endParaRPr lang="en-US" sz="850" dirty="0"/>
          </a:p>
        </p:txBody>
      </p:sp>
      <p:sp>
        <p:nvSpPr>
          <p:cNvPr id="59" name="Text 57"/>
          <p:cNvSpPr/>
          <p:nvPr/>
        </p:nvSpPr>
        <p:spPr>
          <a:xfrm>
            <a:off x="4709160" y="4462272"/>
            <a:ext cx="3995928" cy="384048"/>
          </a:xfrm>
          <a:prstGeom prst="rect">
            <a:avLst/>
          </a:prstGeom>
          <a:noFill/>
          <a:ln/>
        </p:spPr>
        <p:txBody>
          <a:bodyPr wrap="square" lIns="0" tIns="0" rIns="0" bIns="0" rtlCol="0" anchor="t"/>
          <a:lstStyle/>
          <a:p>
            <a:pPr indent="0" marL="0">
              <a:buNone/>
            </a:pPr>
            <a:r>
              <a:rPr lang="en-US" sz="950" dirty="0">
                <a:solidFill>
                  <a:srgbClr val="0F172A"/>
                </a:solidFill>
                <a:latin typeface="Calibri" pitchFamily="34" charset="0"/>
                <a:ea typeface="Calibri" pitchFamily="34" charset="-122"/>
                <a:cs typeface="Calibri" pitchFamily="34" charset="-120"/>
              </a:rPr>
              <a:t>KUALA LUMPUR (Reuters) — Potential witnesses to the multi-billion dollar scandal at 1Malaysia Development Berhad (1MDB) are afraid to speak...</a:t>
            </a:r>
            <a:endParaRPr lang="en-US" sz="950" dirty="0"/>
          </a:p>
        </p:txBody>
      </p:sp>
      <p:sp>
        <p:nvSpPr>
          <p:cNvPr id="60" name="Text 58"/>
          <p:cNvSpPr/>
          <p:nvPr/>
        </p:nvSpPr>
        <p:spPr>
          <a:xfrm>
            <a:off x="4709160" y="4873752"/>
            <a:ext cx="3995928" cy="256032"/>
          </a:xfrm>
          <a:prstGeom prst="rect">
            <a:avLst/>
          </a:prstGeom>
          <a:noFill/>
          <a:ln/>
        </p:spPr>
        <p:txBody>
          <a:bodyPr wrap="square" lIns="0" tIns="0" rIns="0" bIns="0" rtlCol="0" anchor="ctr"/>
          <a:lstStyle/>
          <a:p>
            <a:pPr indent="0" marL="0">
              <a:buNone/>
            </a:pPr>
            <a:r>
              <a:rPr lang="en-US" sz="850" i="1" dirty="0">
                <a:solidFill>
                  <a:srgbClr val="059669"/>
                </a:solidFill>
                <a:latin typeface="Calibri" pitchFamily="34" charset="0"/>
                <a:ea typeface="Calibri" pitchFamily="34" charset="-122"/>
                <a:cs typeface="Calibri" pitchFamily="34" charset="-120"/>
              </a:rPr>
              <a:t>⟩ Wire dateline, formal entity name, investigative sourcing</a:t>
            </a:r>
            <a:endParaRPr lang="en-US" sz="850" dirty="0"/>
          </a:p>
        </p:txBody>
      </p:sp>
      <p:sp>
        <p:nvSpPr>
          <p:cNvPr id="61" name="Shape 59"/>
          <p:cNvSpPr/>
          <p:nvPr/>
        </p:nvSpPr>
        <p:spPr>
          <a:xfrm>
            <a:off x="274320" y="4773168"/>
            <a:ext cx="8595360" cy="237744"/>
          </a:xfrm>
          <a:prstGeom prst="rect">
            <a:avLst/>
          </a:prstGeom>
          <a:solidFill>
            <a:srgbClr val="DBEAFE"/>
          </a:solidFill>
          <a:ln w="7620">
            <a:solidFill>
              <a:srgbClr val="3B82F6"/>
            </a:solidFill>
            <a:prstDash val="solid"/>
          </a:ln>
        </p:spPr>
      </p:sp>
      <p:sp>
        <p:nvSpPr>
          <p:cNvPr id="62" name="Text 60"/>
          <p:cNvSpPr/>
          <p:nvPr/>
        </p:nvSpPr>
        <p:spPr>
          <a:xfrm>
            <a:off x="365760" y="4791456"/>
            <a:ext cx="8412480" cy="201168"/>
          </a:xfrm>
          <a:prstGeom prst="rect">
            <a:avLst/>
          </a:prstGeom>
          <a:noFill/>
          <a:ln/>
        </p:spPr>
        <p:txBody>
          <a:bodyPr wrap="square" lIns="0" tIns="0" rIns="0" bIns="0" rtlCol="0" anchor="ctr"/>
          <a:lstStyle/>
          <a:p>
            <a:pPr algn="ctr" indent="0" marL="0">
              <a:buNone/>
            </a:pPr>
            <a:r>
              <a:rPr lang="en-US" sz="950" dirty="0">
                <a:solidFill>
                  <a:srgbClr val="1D4ED8"/>
                </a:solidFill>
                <a:latin typeface="Calibri" pitchFamily="34" charset="0"/>
                <a:ea typeface="Calibri" pitchFamily="34" charset="-122"/>
                <a:cs typeface="Calibri" pitchFamily="34" charset="-120"/>
              </a:rPr>
              <a:t>Pattern:  Real news → Reuters/AP dateline, named officials, neutral language  |  Fake news → emotional tone, partisan framing, no wire attribution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Critical Analysis — ROC Curves &amp; Model Behavior</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320040" y="749808"/>
            <a:ext cx="4114800" cy="4114800"/>
          </a:xfrm>
          <a:prstGeom prst="rect">
            <a:avLst/>
          </a:prstGeom>
          <a:solidFill>
            <a:srgbClr val="F0F6FF"/>
          </a:solidFill>
          <a:ln w="10160">
            <a:solidFill>
              <a:srgbClr val="BFDBFE"/>
            </a:solidFill>
            <a:prstDash val="solid"/>
          </a:ln>
        </p:spPr>
      </p:sp>
      <p:sp>
        <p:nvSpPr>
          <p:cNvPr id="5" name="Text 3"/>
          <p:cNvSpPr/>
          <p:nvPr/>
        </p:nvSpPr>
        <p:spPr>
          <a:xfrm>
            <a:off x="411480" y="822960"/>
            <a:ext cx="3931920" cy="292608"/>
          </a:xfrm>
          <a:prstGeom prst="rect">
            <a:avLst/>
          </a:prstGeom>
          <a:noFill/>
          <a:ln/>
        </p:spPr>
        <p:txBody>
          <a:bodyPr wrap="square" rtlCol="0" anchor="ctr"/>
          <a:lstStyle/>
          <a:p>
            <a:pPr algn="ctr" indent="0" marL="0">
              <a:buNone/>
            </a:pPr>
            <a:r>
              <a:rPr lang="en-US" sz="1250" b="1" dirty="0">
                <a:solidFill>
                  <a:srgbClr val="0B1E45"/>
                </a:solidFill>
                <a:latin typeface="Calibri" pitchFamily="34" charset="0"/>
                <a:ea typeface="Calibri" pitchFamily="34" charset="-122"/>
                <a:cs typeface="Calibri" pitchFamily="34" charset="-120"/>
              </a:rPr>
              <a:t>AUC Scores by Model &amp; Dataset</a:t>
            </a:r>
            <a:endParaRPr lang="en-US" sz="1250" dirty="0"/>
          </a:p>
        </p:txBody>
      </p:sp>
      <p:sp>
        <p:nvSpPr>
          <p:cNvPr id="6" name="Text 4"/>
          <p:cNvSpPr/>
          <p:nvPr/>
        </p:nvSpPr>
        <p:spPr>
          <a:xfrm>
            <a:off x="411480" y="1207008"/>
            <a:ext cx="182880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LSTM</a:t>
            </a:r>
            <a:endParaRPr lang="en-US" sz="1100" dirty="0"/>
          </a:p>
        </p:txBody>
      </p:sp>
      <p:sp>
        <p:nvSpPr>
          <p:cNvPr id="7" name="Text 5"/>
          <p:cNvSpPr/>
          <p:nvPr/>
        </p:nvSpPr>
        <p:spPr>
          <a:xfrm>
            <a:off x="2286000" y="1207008"/>
            <a:ext cx="640080" cy="411480"/>
          </a:xfrm>
          <a:prstGeom prst="rect">
            <a:avLst/>
          </a:prstGeom>
          <a:noFill/>
          <a:ln/>
        </p:spPr>
        <p:txBody>
          <a:bodyPr wrap="square" lIns="0" tIns="0" rIns="0" bIns="0"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1.00</a:t>
            </a:r>
            <a:endParaRPr lang="en-US" sz="1100" dirty="0"/>
          </a:p>
        </p:txBody>
      </p:sp>
      <p:sp>
        <p:nvSpPr>
          <p:cNvPr id="8" name="Text 6"/>
          <p:cNvSpPr/>
          <p:nvPr/>
        </p:nvSpPr>
        <p:spPr>
          <a:xfrm>
            <a:off x="2953512" y="120700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0.60</a:t>
            </a:r>
            <a:endParaRPr lang="en-US" sz="1100" dirty="0"/>
          </a:p>
        </p:txBody>
      </p:sp>
      <p:sp>
        <p:nvSpPr>
          <p:cNvPr id="9" name="Text 7"/>
          <p:cNvSpPr/>
          <p:nvPr/>
        </p:nvSpPr>
        <p:spPr>
          <a:xfrm>
            <a:off x="3621024" y="120700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411480" y="1709928"/>
            <a:ext cx="182880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Naïve Bayes</a:t>
            </a:r>
            <a:endParaRPr lang="en-US" sz="1100" dirty="0"/>
          </a:p>
        </p:txBody>
      </p:sp>
      <p:sp>
        <p:nvSpPr>
          <p:cNvPr id="11" name="Text 9"/>
          <p:cNvSpPr/>
          <p:nvPr/>
        </p:nvSpPr>
        <p:spPr>
          <a:xfrm>
            <a:off x="2286000" y="1709928"/>
            <a:ext cx="640080" cy="411480"/>
          </a:xfrm>
          <a:prstGeom prst="rect">
            <a:avLst/>
          </a:prstGeom>
          <a:noFill/>
          <a:ln/>
        </p:spPr>
        <p:txBody>
          <a:bodyPr wrap="square" lIns="0" tIns="0" rIns="0" bIns="0"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0.98</a:t>
            </a:r>
            <a:endParaRPr lang="en-US" sz="1100" dirty="0"/>
          </a:p>
        </p:txBody>
      </p:sp>
      <p:sp>
        <p:nvSpPr>
          <p:cNvPr id="12" name="Text 10"/>
          <p:cNvSpPr/>
          <p:nvPr/>
        </p:nvSpPr>
        <p:spPr>
          <a:xfrm>
            <a:off x="2953512" y="170992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0.64</a:t>
            </a:r>
            <a:endParaRPr lang="en-US" sz="1100" dirty="0"/>
          </a:p>
        </p:txBody>
      </p:sp>
      <p:sp>
        <p:nvSpPr>
          <p:cNvPr id="13" name="Text 11"/>
          <p:cNvSpPr/>
          <p:nvPr/>
        </p:nvSpPr>
        <p:spPr>
          <a:xfrm>
            <a:off x="3621024" y="170992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411480" y="2212848"/>
            <a:ext cx="182880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SVM</a:t>
            </a:r>
            <a:endParaRPr lang="en-US" sz="1100" dirty="0"/>
          </a:p>
        </p:txBody>
      </p:sp>
      <p:sp>
        <p:nvSpPr>
          <p:cNvPr id="15" name="Text 13"/>
          <p:cNvSpPr/>
          <p:nvPr/>
        </p:nvSpPr>
        <p:spPr>
          <a:xfrm>
            <a:off x="2286000" y="2212848"/>
            <a:ext cx="640080" cy="411480"/>
          </a:xfrm>
          <a:prstGeom prst="rect">
            <a:avLst/>
          </a:prstGeom>
          <a:noFill/>
          <a:ln/>
        </p:spPr>
        <p:txBody>
          <a:bodyPr wrap="square" lIns="0" tIns="0" rIns="0" bIns="0"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1.00</a:t>
            </a:r>
            <a:endParaRPr lang="en-US" sz="1100" dirty="0"/>
          </a:p>
        </p:txBody>
      </p:sp>
      <p:sp>
        <p:nvSpPr>
          <p:cNvPr id="16" name="Text 14"/>
          <p:cNvSpPr/>
          <p:nvPr/>
        </p:nvSpPr>
        <p:spPr>
          <a:xfrm>
            <a:off x="2953512" y="221284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0.63</a:t>
            </a:r>
            <a:endParaRPr lang="en-US" sz="1100" dirty="0"/>
          </a:p>
        </p:txBody>
      </p:sp>
      <p:sp>
        <p:nvSpPr>
          <p:cNvPr id="17" name="Text 15"/>
          <p:cNvSpPr/>
          <p:nvPr/>
        </p:nvSpPr>
        <p:spPr>
          <a:xfrm>
            <a:off x="3621024" y="221284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411480" y="2715768"/>
            <a:ext cx="182880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GloVe LSTM</a:t>
            </a:r>
            <a:endParaRPr lang="en-US" sz="1100" dirty="0"/>
          </a:p>
        </p:txBody>
      </p:sp>
      <p:sp>
        <p:nvSpPr>
          <p:cNvPr id="19" name="Text 17"/>
          <p:cNvSpPr/>
          <p:nvPr/>
        </p:nvSpPr>
        <p:spPr>
          <a:xfrm>
            <a:off x="2286000" y="271576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0.84</a:t>
            </a:r>
            <a:endParaRPr lang="en-US" sz="1100" dirty="0"/>
          </a:p>
        </p:txBody>
      </p:sp>
      <p:sp>
        <p:nvSpPr>
          <p:cNvPr id="20" name="Text 18"/>
          <p:cNvSpPr/>
          <p:nvPr/>
        </p:nvSpPr>
        <p:spPr>
          <a:xfrm>
            <a:off x="2953512" y="271576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3621024" y="271576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411480" y="3218688"/>
            <a:ext cx="182880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W2V LSTM</a:t>
            </a:r>
            <a:endParaRPr lang="en-US" sz="1100" dirty="0"/>
          </a:p>
        </p:txBody>
      </p:sp>
      <p:sp>
        <p:nvSpPr>
          <p:cNvPr id="23" name="Text 21"/>
          <p:cNvSpPr/>
          <p:nvPr/>
        </p:nvSpPr>
        <p:spPr>
          <a:xfrm>
            <a:off x="2286000" y="321868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0.66</a:t>
            </a:r>
            <a:endParaRPr lang="en-US" sz="1100" dirty="0"/>
          </a:p>
        </p:txBody>
      </p:sp>
      <p:sp>
        <p:nvSpPr>
          <p:cNvPr id="24" name="Text 22"/>
          <p:cNvSpPr/>
          <p:nvPr/>
        </p:nvSpPr>
        <p:spPr>
          <a:xfrm>
            <a:off x="2953512" y="321868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3621024" y="321868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411480" y="3721608"/>
            <a:ext cx="1828800" cy="41148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RoBERTa</a:t>
            </a:r>
            <a:endParaRPr lang="en-US" sz="1100" dirty="0"/>
          </a:p>
        </p:txBody>
      </p:sp>
      <p:sp>
        <p:nvSpPr>
          <p:cNvPr id="27" name="Text 25"/>
          <p:cNvSpPr/>
          <p:nvPr/>
        </p:nvSpPr>
        <p:spPr>
          <a:xfrm>
            <a:off x="2286000" y="3721608"/>
            <a:ext cx="640080" cy="411480"/>
          </a:xfrm>
          <a:prstGeom prst="rect">
            <a:avLst/>
          </a:prstGeom>
          <a:noFill/>
          <a:ln/>
        </p:spPr>
        <p:txBody>
          <a:bodyPr wrap="square" lIns="0" tIns="0" rIns="0" bIns="0" rtlCol="0" anchor="ctr"/>
          <a:lstStyle/>
          <a:p>
            <a:pPr algn="ctr" indent="0" marL="0">
              <a:buNone/>
            </a:pPr>
            <a:r>
              <a:rPr lang="en-US" sz="1100" dirty="0">
                <a:solidFill>
                  <a:srgbClr val="B45309"/>
                </a:solidFill>
                <a:latin typeface="Calibri" pitchFamily="34" charset="0"/>
                <a:ea typeface="Calibri" pitchFamily="34" charset="-122"/>
                <a:cs typeface="Calibri" pitchFamily="34" charset="-120"/>
              </a:rPr>
              <a:t>0.90</a:t>
            </a:r>
            <a:endParaRPr lang="en-US" sz="1100" dirty="0"/>
          </a:p>
        </p:txBody>
      </p:sp>
      <p:sp>
        <p:nvSpPr>
          <p:cNvPr id="28" name="Text 26"/>
          <p:cNvSpPr/>
          <p:nvPr/>
        </p:nvSpPr>
        <p:spPr>
          <a:xfrm>
            <a:off x="2953512" y="372160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~0.75</a:t>
            </a:r>
            <a:endParaRPr lang="en-US" sz="1100" dirty="0"/>
          </a:p>
        </p:txBody>
      </p:sp>
      <p:sp>
        <p:nvSpPr>
          <p:cNvPr id="29" name="Text 27"/>
          <p:cNvSpPr/>
          <p:nvPr/>
        </p:nvSpPr>
        <p:spPr>
          <a:xfrm>
            <a:off x="3621024" y="3721608"/>
            <a:ext cx="640080"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2148840" y="1097280"/>
            <a:ext cx="2103120" cy="22860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ISOT/GossipCop  |  LIAR  |  Twitter</a:t>
            </a:r>
            <a:endParaRPr lang="en-US" sz="900" dirty="0"/>
          </a:p>
        </p:txBody>
      </p:sp>
      <p:sp>
        <p:nvSpPr>
          <p:cNvPr id="31" name="Shape 29"/>
          <p:cNvSpPr/>
          <p:nvPr/>
        </p:nvSpPr>
        <p:spPr>
          <a:xfrm>
            <a:off x="4617720" y="804672"/>
            <a:ext cx="4160520" cy="1188720"/>
          </a:xfrm>
          <a:prstGeom prst="rect">
            <a:avLst/>
          </a:prstGeom>
          <a:solidFill>
            <a:srgbClr val="FAFBFF"/>
          </a:solidFill>
          <a:ln w="15240">
            <a:solidFill>
              <a:srgbClr val="059669"/>
            </a:solidFill>
            <a:prstDash val="solid"/>
          </a:ln>
        </p:spPr>
      </p:sp>
      <p:sp>
        <p:nvSpPr>
          <p:cNvPr id="32" name="Shape 30"/>
          <p:cNvSpPr/>
          <p:nvPr/>
        </p:nvSpPr>
        <p:spPr>
          <a:xfrm>
            <a:off x="4681728" y="896112"/>
            <a:ext cx="320040" cy="320040"/>
          </a:xfrm>
          <a:prstGeom prst="ellipse">
            <a:avLst/>
          </a:prstGeom>
          <a:solidFill>
            <a:srgbClr val="059669"/>
          </a:solidFill>
          <a:ln/>
        </p:spPr>
      </p:sp>
      <p:sp>
        <p:nvSpPr>
          <p:cNvPr id="33" name="Text 31"/>
          <p:cNvSpPr/>
          <p:nvPr/>
        </p:nvSpPr>
        <p:spPr>
          <a:xfrm>
            <a:off x="5084064" y="868680"/>
            <a:ext cx="3611880" cy="274320"/>
          </a:xfrm>
          <a:prstGeom prst="rect">
            <a:avLst/>
          </a:prstGeom>
          <a:noFill/>
          <a:ln/>
        </p:spPr>
        <p:txBody>
          <a:bodyPr wrap="square" lIns="0" tIns="0" rIns="0" bIns="0" rtlCol="0" anchor="ctr"/>
          <a:lstStyle/>
          <a:p>
            <a:pPr indent="0" marL="0">
              <a:buNone/>
            </a:pPr>
            <a:r>
              <a:rPr lang="en-US" sz="1150" b="1" dirty="0">
                <a:solidFill>
                  <a:srgbClr val="059669"/>
                </a:solidFill>
                <a:latin typeface="Calibri" pitchFamily="34" charset="0"/>
                <a:ea typeface="Calibri" pitchFamily="34" charset="-122"/>
                <a:cs typeface="Calibri" pitchFamily="34" charset="-120"/>
              </a:rPr>
              <a:t>Long-form: Near-perfect AUC</a:t>
            </a:r>
            <a:endParaRPr lang="en-US" sz="1150" dirty="0"/>
          </a:p>
        </p:txBody>
      </p:sp>
      <p:sp>
        <p:nvSpPr>
          <p:cNvPr id="34" name="Text 32"/>
          <p:cNvSpPr/>
          <p:nvPr/>
        </p:nvSpPr>
        <p:spPr>
          <a:xfrm>
            <a:off x="4681728" y="1234440"/>
            <a:ext cx="4041648" cy="713232"/>
          </a:xfrm>
          <a:prstGeom prst="rect">
            <a:avLst/>
          </a:prstGeom>
          <a:noFill/>
          <a:ln/>
        </p:spPr>
        <p:txBody>
          <a:bodyPr wrap="square" lIns="0" tIns="0" rIns="0" bIns="0" rtlCol="0" anchor="t"/>
          <a:lstStyle/>
          <a:p>
            <a:pPr indent="0" marL="0">
              <a:buNone/>
            </a:pPr>
            <a:r>
              <a:rPr lang="en-US" sz="1050" dirty="0">
                <a:solidFill>
                  <a:srgbClr val="0F172A"/>
                </a:solidFill>
                <a:latin typeface="Calibri" pitchFamily="34" charset="0"/>
                <a:ea typeface="Calibri" pitchFamily="34" charset="-122"/>
                <a:cs typeface="Calibri" pitchFamily="34" charset="-120"/>
              </a:rPr>
              <a:t>LSTM and SVM both achieve AUC ≥ 0.98 on ISOT — long articles provide abundant discriminative signal across all model families.</a:t>
            </a:r>
            <a:endParaRPr lang="en-US" sz="1050" dirty="0"/>
          </a:p>
        </p:txBody>
      </p:sp>
      <p:sp>
        <p:nvSpPr>
          <p:cNvPr id="35" name="Shape 33"/>
          <p:cNvSpPr/>
          <p:nvPr/>
        </p:nvSpPr>
        <p:spPr>
          <a:xfrm>
            <a:off x="4617720" y="2130552"/>
            <a:ext cx="4160520" cy="1188720"/>
          </a:xfrm>
          <a:prstGeom prst="rect">
            <a:avLst/>
          </a:prstGeom>
          <a:solidFill>
            <a:srgbClr val="FAFBFF"/>
          </a:solidFill>
          <a:ln w="15240">
            <a:solidFill>
              <a:srgbClr val="B45309"/>
            </a:solidFill>
            <a:prstDash val="solid"/>
          </a:ln>
        </p:spPr>
      </p:sp>
      <p:sp>
        <p:nvSpPr>
          <p:cNvPr id="36" name="Shape 34"/>
          <p:cNvSpPr/>
          <p:nvPr/>
        </p:nvSpPr>
        <p:spPr>
          <a:xfrm>
            <a:off x="4681728" y="2221992"/>
            <a:ext cx="320040" cy="320040"/>
          </a:xfrm>
          <a:prstGeom prst="ellipse">
            <a:avLst/>
          </a:prstGeom>
          <a:solidFill>
            <a:srgbClr val="B45309"/>
          </a:solidFill>
          <a:ln/>
        </p:spPr>
      </p:sp>
      <p:sp>
        <p:nvSpPr>
          <p:cNvPr id="37" name="Text 35"/>
          <p:cNvSpPr/>
          <p:nvPr/>
        </p:nvSpPr>
        <p:spPr>
          <a:xfrm>
            <a:off x="5084064" y="2194560"/>
            <a:ext cx="3611880" cy="27432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Short-form: AUC degrades sharply</a:t>
            </a:r>
            <a:endParaRPr lang="en-US" sz="1150" dirty="0"/>
          </a:p>
        </p:txBody>
      </p:sp>
      <p:sp>
        <p:nvSpPr>
          <p:cNvPr id="38" name="Text 36"/>
          <p:cNvSpPr/>
          <p:nvPr/>
        </p:nvSpPr>
        <p:spPr>
          <a:xfrm>
            <a:off x="4681728" y="2560320"/>
            <a:ext cx="4041648" cy="713232"/>
          </a:xfrm>
          <a:prstGeom prst="rect">
            <a:avLst/>
          </a:prstGeom>
          <a:noFill/>
          <a:ln/>
        </p:spPr>
        <p:txBody>
          <a:bodyPr wrap="square" lIns="0" tIns="0" rIns="0" bIns="0" rtlCol="0" anchor="t"/>
          <a:lstStyle/>
          <a:p>
            <a:pPr indent="0" marL="0">
              <a:buNone/>
            </a:pPr>
            <a:r>
              <a:rPr lang="en-US" sz="1050" dirty="0">
                <a:solidFill>
                  <a:srgbClr val="0F172A"/>
                </a:solidFill>
                <a:latin typeface="Calibri" pitchFamily="34" charset="0"/>
                <a:ea typeface="Calibri" pitchFamily="34" charset="-122"/>
                <a:cs typeface="Calibri" pitchFamily="34" charset="-120"/>
              </a:rPr>
              <a:t>On LIAR, AUC drops to 0.60–0.64. This proves the bottleneck is text brevity, not classifier choice — the best transformer still hits the same ceiling.</a:t>
            </a:r>
            <a:endParaRPr lang="en-US" sz="1050" dirty="0"/>
          </a:p>
        </p:txBody>
      </p:sp>
      <p:sp>
        <p:nvSpPr>
          <p:cNvPr id="39" name="Shape 37"/>
          <p:cNvSpPr/>
          <p:nvPr/>
        </p:nvSpPr>
        <p:spPr>
          <a:xfrm>
            <a:off x="4617720" y="3456432"/>
            <a:ext cx="4160520" cy="1188720"/>
          </a:xfrm>
          <a:prstGeom prst="rect">
            <a:avLst/>
          </a:prstGeom>
          <a:solidFill>
            <a:srgbClr val="FAFBFF"/>
          </a:solidFill>
          <a:ln w="15240">
            <a:solidFill>
              <a:srgbClr val="1D4ED8"/>
            </a:solidFill>
            <a:prstDash val="solid"/>
          </a:ln>
        </p:spPr>
      </p:sp>
      <p:sp>
        <p:nvSpPr>
          <p:cNvPr id="40" name="Shape 38"/>
          <p:cNvSpPr/>
          <p:nvPr/>
        </p:nvSpPr>
        <p:spPr>
          <a:xfrm>
            <a:off x="4681728" y="3547872"/>
            <a:ext cx="320040" cy="320040"/>
          </a:xfrm>
          <a:prstGeom prst="ellipse">
            <a:avLst/>
          </a:prstGeom>
          <a:solidFill>
            <a:srgbClr val="1D4ED8"/>
          </a:solidFill>
          <a:ln/>
        </p:spPr>
      </p:sp>
      <p:sp>
        <p:nvSpPr>
          <p:cNvPr id="41" name="Text 39"/>
          <p:cNvSpPr/>
          <p:nvPr/>
        </p:nvSpPr>
        <p:spPr>
          <a:xfrm>
            <a:off x="5084064" y="3520440"/>
            <a:ext cx="3611880" cy="274320"/>
          </a:xfrm>
          <a:prstGeom prst="rect">
            <a:avLst/>
          </a:prstGeom>
          <a:noFill/>
          <a:ln/>
        </p:spPr>
        <p:txBody>
          <a:bodyPr wrap="square" lIns="0" tIns="0" rIns="0" bIns="0" rtlCol="0" anchor="ctr"/>
          <a:lstStyle/>
          <a:p>
            <a:pPr indent="0" marL="0">
              <a:buNone/>
            </a:pPr>
            <a:r>
              <a:rPr lang="en-US" sz="1150" b="1" dirty="0">
                <a:solidFill>
                  <a:srgbClr val="1D4ED8"/>
                </a:solidFill>
                <a:latin typeface="Calibri" pitchFamily="34" charset="0"/>
                <a:ea typeface="Calibri" pitchFamily="34" charset="-122"/>
                <a:cs typeface="Calibri" pitchFamily="34" charset="-120"/>
              </a:rPr>
              <a:t>Confusion Matrix Insight</a:t>
            </a:r>
            <a:endParaRPr lang="en-US" sz="1150" dirty="0"/>
          </a:p>
        </p:txBody>
      </p:sp>
      <p:sp>
        <p:nvSpPr>
          <p:cNvPr id="42" name="Text 40"/>
          <p:cNvSpPr/>
          <p:nvPr/>
        </p:nvSpPr>
        <p:spPr>
          <a:xfrm>
            <a:off x="4681728" y="3886200"/>
            <a:ext cx="4041648" cy="713232"/>
          </a:xfrm>
          <a:prstGeom prst="rect">
            <a:avLst/>
          </a:prstGeom>
          <a:noFill/>
          <a:ln/>
        </p:spPr>
        <p:txBody>
          <a:bodyPr wrap="square" lIns="0" tIns="0" rIns="0" bIns="0" rtlCol="0" anchor="t"/>
          <a:lstStyle/>
          <a:p>
            <a:pPr indent="0" marL="0">
              <a:buNone/>
            </a:pPr>
            <a:r>
              <a:rPr lang="en-US" sz="1050" dirty="0">
                <a:solidFill>
                  <a:srgbClr val="0F172A"/>
                </a:solidFill>
                <a:latin typeface="Calibri" pitchFamily="34" charset="0"/>
                <a:ea typeface="Calibri" pitchFamily="34" charset="-122"/>
                <a:cs typeface="Calibri" pitchFamily="34" charset="-120"/>
              </a:rPr>
              <a:t>On GossipCop, GloVe + LSTM has 510 false negatives vs. only 7 for Word2Vec + LSTM. Embedding quality directly reduces error counts.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28016"/>
            <a:ext cx="8412480" cy="457200"/>
          </a:xfrm>
          <a:prstGeom prst="rect">
            <a:avLst/>
          </a:prstGeom>
          <a:noFill/>
          <a:ln/>
        </p:spPr>
        <p:txBody>
          <a:bodyPr wrap="square" lIns="0" tIns="0" rIns="0" bIns="0" rtlCol="0" anchor="ctr"/>
          <a:lstStyle/>
          <a:p>
            <a:pPr algn="l" indent="0" marL="0">
              <a:buNone/>
            </a:pPr>
            <a:r>
              <a:rPr lang="en-US" sz="2400" b="1" dirty="0">
                <a:solidFill>
                  <a:srgbClr val="0B1E45"/>
                </a:solidFill>
                <a:latin typeface="Calibri" pitchFamily="34" charset="0"/>
                <a:ea typeface="Calibri" pitchFamily="34" charset="-122"/>
                <a:cs typeface="Calibri" pitchFamily="34" charset="-120"/>
              </a:rPr>
              <a:t>Key Finding — Embedding Quality &gt; Classifier Complexity</a:t>
            </a:r>
            <a:endParaRPr lang="en-US" sz="2400" dirty="0"/>
          </a:p>
        </p:txBody>
      </p:sp>
      <p:sp>
        <p:nvSpPr>
          <p:cNvPr id="3" name="Shape 1"/>
          <p:cNvSpPr/>
          <p:nvPr/>
        </p:nvSpPr>
        <p:spPr>
          <a:xfrm>
            <a:off x="365760" y="594360"/>
            <a:ext cx="8412480" cy="22860"/>
          </a:xfrm>
          <a:prstGeom prst="rect">
            <a:avLst/>
          </a:prstGeom>
          <a:solidFill>
            <a:srgbClr val="3B82F6"/>
          </a:solidFill>
          <a:ln/>
        </p:spPr>
      </p:sp>
      <p:sp>
        <p:nvSpPr>
          <p:cNvPr id="4" name="Shape 2"/>
          <p:cNvSpPr/>
          <p:nvPr/>
        </p:nvSpPr>
        <p:spPr>
          <a:xfrm>
            <a:off x="2560320" y="777240"/>
            <a:ext cx="4023360" cy="1463040"/>
          </a:xfrm>
          <a:prstGeom prst="rect">
            <a:avLst/>
          </a:prstGeom>
          <a:solidFill>
            <a:srgbClr val="F0FDF4"/>
          </a:solidFill>
          <a:ln w="25400">
            <a:solidFill>
              <a:srgbClr val="059669"/>
            </a:solidFill>
            <a:prstDash val="solid"/>
          </a:ln>
          <a:effectLst>
            <a:outerShdw sx="100000" sy="100000" kx="0" ky="0" algn="bl" rotWithShape="0" blurRad="127000" dist="38100" dir="8100000">
              <a:srgbClr val="000000">
                <a:alpha val="12000"/>
              </a:srgbClr>
            </a:outerShdw>
          </a:effectLst>
        </p:spPr>
      </p:sp>
      <p:sp>
        <p:nvSpPr>
          <p:cNvPr id="5" name="Text 3"/>
          <p:cNvSpPr/>
          <p:nvPr/>
        </p:nvSpPr>
        <p:spPr>
          <a:xfrm>
            <a:off x="2560320" y="841248"/>
            <a:ext cx="4023360" cy="777240"/>
          </a:xfrm>
          <a:prstGeom prst="rect">
            <a:avLst/>
          </a:prstGeom>
          <a:noFill/>
          <a:ln/>
        </p:spPr>
        <p:txBody>
          <a:bodyPr wrap="square" lIns="0" tIns="0" rIns="0" bIns="0" rtlCol="0" anchor="ctr"/>
          <a:lstStyle/>
          <a:p>
            <a:pPr algn="ctr" indent="0" marL="0">
              <a:buNone/>
            </a:pPr>
            <a:r>
              <a:rPr lang="en-US" sz="5400" b="1" dirty="0">
                <a:solidFill>
                  <a:srgbClr val="059669"/>
                </a:solidFill>
                <a:latin typeface="Calibri" pitchFamily="34" charset="0"/>
                <a:ea typeface="Calibri" pitchFamily="34" charset="-122"/>
                <a:cs typeface="Calibri" pitchFamily="34" charset="-120"/>
              </a:rPr>
              <a:t>+10.3%</a:t>
            </a:r>
            <a:endParaRPr lang="en-US" sz="5400" dirty="0"/>
          </a:p>
        </p:txBody>
      </p:sp>
      <p:sp>
        <p:nvSpPr>
          <p:cNvPr id="6" name="Text 4"/>
          <p:cNvSpPr/>
          <p:nvPr/>
        </p:nvSpPr>
        <p:spPr>
          <a:xfrm>
            <a:off x="2560320" y="1618488"/>
            <a:ext cx="4023360" cy="292608"/>
          </a:xfrm>
          <a:prstGeom prst="rect">
            <a:avLst/>
          </a:prstGeom>
          <a:noFill/>
          <a:ln/>
        </p:spPr>
        <p:txBody>
          <a:bodyPr wrap="square" lIns="0" tIns="0" rIns="0" bIns="0" rtlCol="0" anchor="ctr"/>
          <a:lstStyle/>
          <a:p>
            <a:pPr algn="ctr" indent="0" marL="0">
              <a:buNone/>
            </a:pPr>
            <a:r>
              <a:rPr lang="en-US" sz="1300" b="1" dirty="0">
                <a:solidFill>
                  <a:srgbClr val="0B1E45"/>
                </a:solidFill>
                <a:latin typeface="Calibri" pitchFamily="34" charset="0"/>
                <a:ea typeface="Calibri" pitchFamily="34" charset="-122"/>
                <a:cs typeface="Calibri" pitchFamily="34" charset="-120"/>
              </a:rPr>
              <a:t>F1 Score Gain on Twitter15</a:t>
            </a:r>
            <a:endParaRPr lang="en-US" sz="1300" dirty="0"/>
          </a:p>
        </p:txBody>
      </p:sp>
      <p:sp>
        <p:nvSpPr>
          <p:cNvPr id="7" name="Text 5"/>
          <p:cNvSpPr/>
          <p:nvPr/>
        </p:nvSpPr>
        <p:spPr>
          <a:xfrm>
            <a:off x="2560320" y="1920240"/>
            <a:ext cx="4023360" cy="256032"/>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TF-IDF  →  BERT Contextual Embeddings  |  Same BiLSTM Architecture</a:t>
            </a:r>
            <a:endParaRPr lang="en-US" sz="1000" dirty="0"/>
          </a:p>
        </p:txBody>
      </p:sp>
      <p:sp>
        <p:nvSpPr>
          <p:cNvPr id="8" name="Text 6"/>
          <p:cNvSpPr/>
          <p:nvPr/>
        </p:nvSpPr>
        <p:spPr>
          <a:xfrm>
            <a:off x="365760" y="2286000"/>
            <a:ext cx="8412480" cy="256032"/>
          </a:xfrm>
          <a:prstGeom prst="rect">
            <a:avLst/>
          </a:prstGeom>
          <a:noFill/>
          <a:ln/>
        </p:spPr>
        <p:txBody>
          <a:bodyPr wrap="square" rtlCol="0" anchor="ctr"/>
          <a:lstStyle/>
          <a:p>
            <a:pPr algn="ctr" indent="0" marL="0">
              <a:buNone/>
            </a:pPr>
            <a:r>
              <a:rPr lang="en-US" sz="1100" b="1" dirty="0">
                <a:solidFill>
                  <a:srgbClr val="0B1E45"/>
                </a:solidFill>
                <a:latin typeface="Calibri" pitchFamily="34" charset="0"/>
                <a:ea typeface="Calibri" pitchFamily="34" charset="-122"/>
                <a:cs typeface="Calibri" pitchFamily="34" charset="-120"/>
              </a:rPr>
              <a:t>Twitter15 — F1 Score by Embedding Strategy (Same BiLSTM Model)</a:t>
            </a:r>
            <a:endParaRPr lang="en-US" sz="1100" dirty="0"/>
          </a:p>
        </p:txBody>
      </p:sp>
      <p:sp>
        <p:nvSpPr>
          <p:cNvPr id="9" name="Shape 7"/>
          <p:cNvSpPr/>
          <p:nvPr/>
        </p:nvSpPr>
        <p:spPr>
          <a:xfrm>
            <a:off x="914400" y="3803904"/>
            <a:ext cx="1965960" cy="219456"/>
          </a:xfrm>
          <a:prstGeom prst="rect">
            <a:avLst/>
          </a:prstGeom>
          <a:solidFill>
            <a:srgbClr val="DC2626"/>
          </a:solidFill>
          <a:ln/>
        </p:spPr>
      </p:sp>
      <p:sp>
        <p:nvSpPr>
          <p:cNvPr id="10" name="Text 8"/>
          <p:cNvSpPr/>
          <p:nvPr/>
        </p:nvSpPr>
        <p:spPr>
          <a:xfrm>
            <a:off x="914400" y="3529584"/>
            <a:ext cx="1965960" cy="256032"/>
          </a:xfrm>
          <a:prstGeom prst="rect">
            <a:avLst/>
          </a:prstGeom>
          <a:noFill/>
          <a:ln/>
        </p:spPr>
        <p:txBody>
          <a:bodyPr wrap="square" lIns="0" tIns="0" rIns="0" bIns="0"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62.5%</a:t>
            </a:r>
            <a:endParaRPr lang="en-US" sz="1400" dirty="0"/>
          </a:p>
        </p:txBody>
      </p:sp>
      <p:sp>
        <p:nvSpPr>
          <p:cNvPr id="11" name="Text 9"/>
          <p:cNvSpPr/>
          <p:nvPr/>
        </p:nvSpPr>
        <p:spPr>
          <a:xfrm>
            <a:off x="731520" y="4069080"/>
            <a:ext cx="2331720" cy="45720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TF-IDF + BiLSTM</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(Baseline)</a:t>
            </a:r>
            <a:endParaRPr lang="en-US" sz="1000" dirty="0"/>
          </a:p>
        </p:txBody>
      </p:sp>
      <p:sp>
        <p:nvSpPr>
          <p:cNvPr id="12" name="Shape 10"/>
          <p:cNvSpPr/>
          <p:nvPr/>
        </p:nvSpPr>
        <p:spPr>
          <a:xfrm>
            <a:off x="3703320" y="3599078"/>
            <a:ext cx="1965960" cy="424282"/>
          </a:xfrm>
          <a:prstGeom prst="rect">
            <a:avLst/>
          </a:prstGeom>
          <a:solidFill>
            <a:srgbClr val="B45309"/>
          </a:solidFill>
          <a:ln/>
        </p:spPr>
      </p:sp>
      <p:sp>
        <p:nvSpPr>
          <p:cNvPr id="13" name="Text 11"/>
          <p:cNvSpPr/>
          <p:nvPr/>
        </p:nvSpPr>
        <p:spPr>
          <a:xfrm>
            <a:off x="3703320" y="3324758"/>
            <a:ext cx="1965960" cy="256032"/>
          </a:xfrm>
          <a:prstGeom prst="rect">
            <a:avLst/>
          </a:prstGeom>
          <a:noFill/>
          <a:ln/>
        </p:spPr>
        <p:txBody>
          <a:bodyPr wrap="square" lIns="0" tIns="0" rIns="0" bIns="0" rtlCol="0" anchor="ctr"/>
          <a:lstStyle/>
          <a:p>
            <a:pPr algn="ctr" indent="0" marL="0">
              <a:buNone/>
            </a:pPr>
            <a:r>
              <a:rPr lang="en-US" sz="1400" b="1" dirty="0">
                <a:solidFill>
                  <a:srgbClr val="B45309"/>
                </a:solidFill>
                <a:latin typeface="Calibri" pitchFamily="34" charset="0"/>
                <a:ea typeface="Calibri" pitchFamily="34" charset="-122"/>
                <a:cs typeface="Calibri" pitchFamily="34" charset="-120"/>
              </a:rPr>
              <a:t>69.5%</a:t>
            </a:r>
            <a:endParaRPr lang="en-US" sz="1400" dirty="0"/>
          </a:p>
        </p:txBody>
      </p:sp>
      <p:sp>
        <p:nvSpPr>
          <p:cNvPr id="14" name="Text 12"/>
          <p:cNvSpPr/>
          <p:nvPr/>
        </p:nvSpPr>
        <p:spPr>
          <a:xfrm>
            <a:off x="3520440" y="4069080"/>
            <a:ext cx="2331720" cy="45720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GloVe + BiLSTM</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(+~7%)</a:t>
            </a:r>
            <a:endParaRPr lang="en-US" sz="1000" dirty="0"/>
          </a:p>
        </p:txBody>
      </p:sp>
      <p:sp>
        <p:nvSpPr>
          <p:cNvPr id="15" name="Shape 13"/>
          <p:cNvSpPr/>
          <p:nvPr/>
        </p:nvSpPr>
        <p:spPr>
          <a:xfrm>
            <a:off x="6492240" y="3502518"/>
            <a:ext cx="1965960" cy="520842"/>
          </a:xfrm>
          <a:prstGeom prst="rect">
            <a:avLst/>
          </a:prstGeom>
          <a:solidFill>
            <a:srgbClr val="059669"/>
          </a:solidFill>
          <a:ln/>
        </p:spPr>
      </p:sp>
      <p:sp>
        <p:nvSpPr>
          <p:cNvPr id="16" name="Text 14"/>
          <p:cNvSpPr/>
          <p:nvPr/>
        </p:nvSpPr>
        <p:spPr>
          <a:xfrm>
            <a:off x="6492240" y="3228198"/>
            <a:ext cx="1965960" cy="256032"/>
          </a:xfrm>
          <a:prstGeom prst="rect">
            <a:avLst/>
          </a:prstGeom>
          <a:noFill/>
          <a:ln/>
        </p:spPr>
        <p:txBody>
          <a:bodyPr wrap="square" lIns="0" tIns="0" rIns="0" bIns="0" rtlCol="0" anchor="ctr"/>
          <a:lstStyle/>
          <a:p>
            <a:pPr algn="ctr" indent="0" marL="0">
              <a:buNone/>
            </a:pPr>
            <a:r>
              <a:rPr lang="en-US" sz="1400" b="1" dirty="0">
                <a:solidFill>
                  <a:srgbClr val="059669"/>
                </a:solidFill>
                <a:latin typeface="Calibri" pitchFamily="34" charset="0"/>
                <a:ea typeface="Calibri" pitchFamily="34" charset="-122"/>
                <a:cs typeface="Calibri" pitchFamily="34" charset="-120"/>
              </a:rPr>
              <a:t>72.8%</a:t>
            </a:r>
            <a:endParaRPr lang="en-US" sz="1400" dirty="0"/>
          </a:p>
        </p:txBody>
      </p:sp>
      <p:sp>
        <p:nvSpPr>
          <p:cNvPr id="17" name="Text 15"/>
          <p:cNvSpPr/>
          <p:nvPr/>
        </p:nvSpPr>
        <p:spPr>
          <a:xfrm>
            <a:off x="6309360" y="4069080"/>
            <a:ext cx="2331720" cy="45720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BERT + BiLSTM</a:t>
            </a:r>
            <a:endParaRPr lang="en-US" sz="1000" dirty="0"/>
          </a:p>
          <a:p>
            <a:pPr algn="ctr" indent="0" marL="0">
              <a:buNone/>
            </a:pPr>
            <a:r>
              <a:rPr lang="en-US" sz="1000" dirty="0">
                <a:solidFill>
                  <a:srgbClr val="0F172A"/>
                </a:solidFill>
                <a:latin typeface="Calibri" pitchFamily="34" charset="0"/>
                <a:ea typeface="Calibri" pitchFamily="34" charset="-122"/>
                <a:cs typeface="Calibri" pitchFamily="34" charset="-120"/>
              </a:rPr>
              <a:t>(+10.3%)</a:t>
            </a:r>
            <a:endParaRPr lang="en-US" sz="1000" dirty="0"/>
          </a:p>
        </p:txBody>
      </p:sp>
      <p:sp>
        <p:nvSpPr>
          <p:cNvPr id="18" name="Shape 16"/>
          <p:cNvSpPr/>
          <p:nvPr/>
        </p:nvSpPr>
        <p:spPr>
          <a:xfrm>
            <a:off x="457200" y="4023360"/>
            <a:ext cx="8321040" cy="22860"/>
          </a:xfrm>
          <a:prstGeom prst="rect">
            <a:avLst/>
          </a:prstGeom>
          <a:solidFill>
            <a:srgbClr val="BFDBFE"/>
          </a:solidFill>
          <a:ln/>
        </p:spPr>
      </p:sp>
      <p:sp>
        <p:nvSpPr>
          <p:cNvPr id="19" name="Shape 17"/>
          <p:cNvSpPr/>
          <p:nvPr/>
        </p:nvSpPr>
        <p:spPr>
          <a:xfrm>
            <a:off x="365760" y="4572000"/>
            <a:ext cx="8412480" cy="384048"/>
          </a:xfrm>
          <a:prstGeom prst="rect">
            <a:avLst/>
          </a:prstGeom>
          <a:solidFill>
            <a:srgbClr val="DBEAFE"/>
          </a:solidFill>
          <a:ln w="10160">
            <a:solidFill>
              <a:srgbClr val="1D4ED8"/>
            </a:solidFill>
            <a:prstDash val="solid"/>
          </a:ln>
        </p:spPr>
      </p:sp>
      <p:sp>
        <p:nvSpPr>
          <p:cNvPr id="20" name="Text 18"/>
          <p:cNvSpPr/>
          <p:nvPr/>
        </p:nvSpPr>
        <p:spPr>
          <a:xfrm>
            <a:off x="457200" y="4608576"/>
            <a:ext cx="8229600" cy="320040"/>
          </a:xfrm>
          <a:prstGeom prst="rect">
            <a:avLst/>
          </a:prstGeom>
          <a:noFill/>
          <a:ln/>
        </p:spPr>
        <p:txBody>
          <a:bodyPr wrap="square" rtlCol="0" anchor="ctr"/>
          <a:lstStyle/>
          <a:p>
            <a:pPr indent="0" marL="0">
              <a:buNone/>
            </a:pPr>
            <a:r>
              <a:rPr lang="en-US" sz="1100" i="1" dirty="0">
                <a:solidFill>
                  <a:srgbClr val="0B1E45"/>
                </a:solidFill>
                <a:latin typeface="Calibri" pitchFamily="34" charset="0"/>
                <a:ea typeface="Calibri" pitchFamily="34" charset="-122"/>
                <a:cs typeface="Calibri" pitchFamily="34" charset="-120"/>
              </a:rPr>
              <a:t>This gain (+10.3%) exceeded every improvement obtained by changing the model architecture — proving that investing in better embeddings is more cost-effective than building more complex classifiers.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1E45"/>
        </a:solidFill>
      </p:bgPr>
    </p:bg>
    <p:spTree>
      <p:nvGrpSpPr>
        <p:cNvPr id="1" name=""/>
        <p:cNvGrpSpPr/>
        <p:nvPr/>
      </p:nvGrpSpPr>
      <p:grpSpPr>
        <a:xfrm>
          <a:off x="0" y="0"/>
          <a:ext cx="0" cy="0"/>
          <a:chOff x="0" y="0"/>
          <a:chExt cx="0" cy="0"/>
        </a:xfrm>
      </p:grpSpPr>
      <p:sp>
        <p:nvSpPr>
          <p:cNvPr id="2" name="Text 0"/>
          <p:cNvSpPr/>
          <p:nvPr/>
        </p:nvSpPr>
        <p:spPr>
          <a:xfrm>
            <a:off x="457200" y="182880"/>
            <a:ext cx="8229600" cy="438912"/>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Conclusion &amp; Deployment Recommendations</a:t>
            </a:r>
            <a:endParaRPr lang="en-US" sz="2400" dirty="0"/>
          </a:p>
        </p:txBody>
      </p:sp>
      <p:sp>
        <p:nvSpPr>
          <p:cNvPr id="3" name="Shape 1"/>
          <p:cNvSpPr/>
          <p:nvPr/>
        </p:nvSpPr>
        <p:spPr>
          <a:xfrm>
            <a:off x="1828800" y="658368"/>
            <a:ext cx="5486400" cy="27432"/>
          </a:xfrm>
          <a:prstGeom prst="rect">
            <a:avLst/>
          </a:prstGeom>
          <a:solidFill>
            <a:srgbClr val="3B82F6"/>
          </a:solidFill>
          <a:ln/>
        </p:spPr>
      </p:sp>
      <p:sp>
        <p:nvSpPr>
          <p:cNvPr id="4" name="Shape 2"/>
          <p:cNvSpPr/>
          <p:nvPr/>
        </p:nvSpPr>
        <p:spPr>
          <a:xfrm>
            <a:off x="365760" y="822960"/>
            <a:ext cx="2697480" cy="1874520"/>
          </a:xfrm>
          <a:prstGeom prst="rect">
            <a:avLst/>
          </a:prstGeom>
          <a:solidFill>
            <a:srgbClr val="152A5E"/>
          </a:solidFill>
          <a:ln w="15240">
            <a:solidFill>
              <a:srgbClr val="059669"/>
            </a:solidFill>
            <a:prstDash val="solid"/>
          </a:ln>
        </p:spPr>
      </p:sp>
      <p:sp>
        <p:nvSpPr>
          <p:cNvPr id="5" name="Text 3"/>
          <p:cNvSpPr/>
          <p:nvPr/>
        </p:nvSpPr>
        <p:spPr>
          <a:xfrm>
            <a:off x="365760" y="877824"/>
            <a:ext cx="2697480" cy="320040"/>
          </a:xfrm>
          <a:prstGeom prst="rect">
            <a:avLst/>
          </a:prstGeom>
          <a:noFill/>
          <a:ln/>
        </p:spPr>
        <p:txBody>
          <a:bodyPr wrap="square" lIns="0" tIns="0" rIns="0" bIns="0" rtlCol="0" anchor="ctr"/>
          <a:lstStyle/>
          <a:p>
            <a:pPr algn="ctr" indent="0" marL="0">
              <a:buNone/>
            </a:pPr>
            <a:r>
              <a:rPr lang="en-US" sz="1250" b="1" dirty="0">
                <a:solidFill>
                  <a:srgbClr val="059669"/>
                </a:solidFill>
                <a:latin typeface="Calibri" pitchFamily="34" charset="0"/>
                <a:ea typeface="Calibri" pitchFamily="34" charset="-122"/>
                <a:cs typeface="Calibri" pitchFamily="34" charset="-120"/>
              </a:rPr>
              <a:t>RoBERTa Dominates</a:t>
            </a:r>
            <a:endParaRPr lang="en-US" sz="1250" dirty="0"/>
          </a:p>
        </p:txBody>
      </p:sp>
      <p:sp>
        <p:nvSpPr>
          <p:cNvPr id="6" name="Shape 4"/>
          <p:cNvSpPr/>
          <p:nvPr/>
        </p:nvSpPr>
        <p:spPr>
          <a:xfrm>
            <a:off x="457200" y="1234440"/>
            <a:ext cx="2514600" cy="18288"/>
          </a:xfrm>
          <a:prstGeom prst="rect">
            <a:avLst/>
          </a:prstGeom>
          <a:solidFill>
            <a:srgbClr val="059669"/>
          </a:solidFill>
          <a:ln/>
        </p:spPr>
      </p:sp>
      <p:sp>
        <p:nvSpPr>
          <p:cNvPr id="7" name="Text 5"/>
          <p:cNvSpPr/>
          <p:nvPr/>
        </p:nvSpPr>
        <p:spPr>
          <a:xfrm>
            <a:off x="365760" y="1316736"/>
            <a:ext cx="2697480" cy="1316736"/>
          </a:xfrm>
          <a:prstGeom prst="rect">
            <a:avLst/>
          </a:prstGeom>
          <a:noFill/>
          <a:ln/>
        </p:spPr>
        <p:txBody>
          <a:bodyPr wrap="square" lIns="0" tIns="0" rIns="0" bIns="0" rtlCol="0" anchor="t"/>
          <a:lstStyle/>
          <a:p>
            <a:pPr algn="ctr" indent="0" marL="0">
              <a:buNone/>
            </a:pPr>
            <a:r>
              <a:rPr lang="en-US" sz="1100" dirty="0">
                <a:solidFill>
                  <a:srgbClr val="93C5FD"/>
                </a:solidFill>
                <a:latin typeface="Calibri" pitchFamily="34" charset="0"/>
                <a:ea typeface="Calibri" pitchFamily="34" charset="-122"/>
                <a:cs typeface="Calibri" pitchFamily="34" charset="-120"/>
              </a:rPr>
              <a:t>99.78% (ISOT), 96.3% (GossipCop)</a:t>
            </a:r>
            <a:endParaRPr lang="en-US" sz="1100" dirty="0"/>
          </a:p>
          <a:p>
            <a:pPr algn="ctr" indent="0" marL="0">
              <a:buNone/>
            </a:pPr>
            <a:r>
              <a:rPr lang="en-US" sz="1100" dirty="0">
                <a:solidFill>
                  <a:srgbClr val="93C5FD"/>
                </a:solidFill>
                <a:latin typeface="Calibri" pitchFamily="34" charset="0"/>
                <a:ea typeface="Calibri" pitchFamily="34" charset="-122"/>
                <a:cs typeface="Calibri" pitchFamily="34" charset="-120"/>
              </a:rPr>
              <a:t>Best for high-resource production deployment</a:t>
            </a:r>
            <a:endParaRPr lang="en-US" sz="1100" dirty="0"/>
          </a:p>
        </p:txBody>
      </p:sp>
      <p:sp>
        <p:nvSpPr>
          <p:cNvPr id="8" name="Shape 6"/>
          <p:cNvSpPr/>
          <p:nvPr/>
        </p:nvSpPr>
        <p:spPr>
          <a:xfrm>
            <a:off x="3246120" y="822960"/>
            <a:ext cx="2697480" cy="1874520"/>
          </a:xfrm>
          <a:prstGeom prst="rect">
            <a:avLst/>
          </a:prstGeom>
          <a:solidFill>
            <a:srgbClr val="152A5E"/>
          </a:solidFill>
          <a:ln w="15240">
            <a:solidFill>
              <a:srgbClr val="38BDF8"/>
            </a:solidFill>
            <a:prstDash val="solid"/>
          </a:ln>
        </p:spPr>
      </p:sp>
      <p:sp>
        <p:nvSpPr>
          <p:cNvPr id="9" name="Text 7"/>
          <p:cNvSpPr/>
          <p:nvPr/>
        </p:nvSpPr>
        <p:spPr>
          <a:xfrm>
            <a:off x="3246120" y="877824"/>
            <a:ext cx="2697480" cy="320040"/>
          </a:xfrm>
          <a:prstGeom prst="rect">
            <a:avLst/>
          </a:prstGeom>
          <a:noFill/>
          <a:ln/>
        </p:spPr>
        <p:txBody>
          <a:bodyPr wrap="square" lIns="0" tIns="0" rIns="0" bIns="0" rtlCol="0" anchor="ctr"/>
          <a:lstStyle/>
          <a:p>
            <a:pPr algn="ctr" indent="0" marL="0">
              <a:buNone/>
            </a:pPr>
            <a:r>
              <a:rPr lang="en-US" sz="1250" b="1" dirty="0">
                <a:solidFill>
                  <a:srgbClr val="38BDF8"/>
                </a:solidFill>
                <a:latin typeface="Calibri" pitchFamily="34" charset="0"/>
                <a:ea typeface="Calibri" pitchFamily="34" charset="-122"/>
                <a:cs typeface="Calibri" pitchFamily="34" charset="-120"/>
              </a:rPr>
              <a:t>SVM = Best Efficiency</a:t>
            </a:r>
            <a:endParaRPr lang="en-US" sz="1250" dirty="0"/>
          </a:p>
        </p:txBody>
      </p:sp>
      <p:sp>
        <p:nvSpPr>
          <p:cNvPr id="10" name="Shape 8"/>
          <p:cNvSpPr/>
          <p:nvPr/>
        </p:nvSpPr>
        <p:spPr>
          <a:xfrm>
            <a:off x="3337560" y="1234440"/>
            <a:ext cx="2514600" cy="18288"/>
          </a:xfrm>
          <a:prstGeom prst="rect">
            <a:avLst/>
          </a:prstGeom>
          <a:solidFill>
            <a:srgbClr val="38BDF8"/>
          </a:solidFill>
          <a:ln/>
        </p:spPr>
      </p:sp>
      <p:sp>
        <p:nvSpPr>
          <p:cNvPr id="11" name="Text 9"/>
          <p:cNvSpPr/>
          <p:nvPr/>
        </p:nvSpPr>
        <p:spPr>
          <a:xfrm>
            <a:off x="3246120" y="1316736"/>
            <a:ext cx="2697480" cy="1316736"/>
          </a:xfrm>
          <a:prstGeom prst="rect">
            <a:avLst/>
          </a:prstGeom>
          <a:noFill/>
          <a:ln/>
        </p:spPr>
        <p:txBody>
          <a:bodyPr wrap="square" lIns="0" tIns="0" rIns="0" bIns="0" rtlCol="0" anchor="t"/>
          <a:lstStyle/>
          <a:p>
            <a:pPr algn="ctr" indent="0" marL="0">
              <a:buNone/>
            </a:pPr>
            <a:r>
              <a:rPr lang="en-US" sz="1100" dirty="0">
                <a:solidFill>
                  <a:srgbClr val="93C5FD"/>
                </a:solidFill>
                <a:latin typeface="Calibri" pitchFamily="34" charset="0"/>
                <a:ea typeface="Calibri" pitchFamily="34" charset="-122"/>
                <a:cs typeface="Calibri" pitchFamily="34" charset="-120"/>
              </a:rPr>
              <a:t>99.16% at 50× lower compute cost</a:t>
            </a:r>
            <a:endParaRPr lang="en-US" sz="1100" dirty="0"/>
          </a:p>
          <a:p>
            <a:pPr algn="ctr" indent="0" marL="0">
              <a:buNone/>
            </a:pPr>
            <a:r>
              <a:rPr lang="en-US" sz="1100" dirty="0">
                <a:solidFill>
                  <a:srgbClr val="93C5FD"/>
                </a:solidFill>
                <a:latin typeface="Calibri" pitchFamily="34" charset="0"/>
                <a:ea typeface="Calibri" pitchFamily="34" charset="-122"/>
                <a:cs typeface="Calibri" pitchFamily="34" charset="-120"/>
              </a:rPr>
              <a:t>Ideal for edge / real-time deployment</a:t>
            </a:r>
            <a:endParaRPr lang="en-US" sz="1100" dirty="0"/>
          </a:p>
        </p:txBody>
      </p:sp>
      <p:sp>
        <p:nvSpPr>
          <p:cNvPr id="12" name="Shape 10"/>
          <p:cNvSpPr/>
          <p:nvPr/>
        </p:nvSpPr>
        <p:spPr>
          <a:xfrm>
            <a:off x="6126480" y="822960"/>
            <a:ext cx="2697480" cy="1874520"/>
          </a:xfrm>
          <a:prstGeom prst="rect">
            <a:avLst/>
          </a:prstGeom>
          <a:solidFill>
            <a:srgbClr val="152A5E"/>
          </a:solidFill>
          <a:ln w="15240">
            <a:solidFill>
              <a:srgbClr val="93C5FD"/>
            </a:solidFill>
            <a:prstDash val="solid"/>
          </a:ln>
        </p:spPr>
      </p:sp>
      <p:sp>
        <p:nvSpPr>
          <p:cNvPr id="13" name="Text 11"/>
          <p:cNvSpPr/>
          <p:nvPr/>
        </p:nvSpPr>
        <p:spPr>
          <a:xfrm>
            <a:off x="6126480" y="877824"/>
            <a:ext cx="2697480" cy="320040"/>
          </a:xfrm>
          <a:prstGeom prst="rect">
            <a:avLst/>
          </a:prstGeom>
          <a:noFill/>
          <a:ln/>
        </p:spPr>
        <p:txBody>
          <a:bodyPr wrap="square" lIns="0" tIns="0" rIns="0" bIns="0" rtlCol="0" anchor="ctr"/>
          <a:lstStyle/>
          <a:p>
            <a:pPr algn="ctr" indent="0" marL="0">
              <a:buNone/>
            </a:pPr>
            <a:r>
              <a:rPr lang="en-US" sz="1250" b="1" dirty="0">
                <a:solidFill>
                  <a:srgbClr val="93C5FD"/>
                </a:solidFill>
                <a:latin typeface="Calibri" pitchFamily="34" charset="0"/>
                <a:ea typeface="Calibri" pitchFamily="34" charset="-122"/>
                <a:cs typeface="Calibri" pitchFamily="34" charset="-120"/>
              </a:rPr>
              <a:t>Embedding &gt; Architecture</a:t>
            </a:r>
            <a:endParaRPr lang="en-US" sz="1250" dirty="0"/>
          </a:p>
        </p:txBody>
      </p:sp>
      <p:sp>
        <p:nvSpPr>
          <p:cNvPr id="14" name="Shape 12"/>
          <p:cNvSpPr/>
          <p:nvPr/>
        </p:nvSpPr>
        <p:spPr>
          <a:xfrm>
            <a:off x="6217920" y="1234440"/>
            <a:ext cx="2514600" cy="18288"/>
          </a:xfrm>
          <a:prstGeom prst="rect">
            <a:avLst/>
          </a:prstGeom>
          <a:solidFill>
            <a:srgbClr val="93C5FD"/>
          </a:solidFill>
          <a:ln/>
        </p:spPr>
      </p:sp>
      <p:sp>
        <p:nvSpPr>
          <p:cNvPr id="15" name="Text 13"/>
          <p:cNvSpPr/>
          <p:nvPr/>
        </p:nvSpPr>
        <p:spPr>
          <a:xfrm>
            <a:off x="6126480" y="1316736"/>
            <a:ext cx="2697480" cy="1316736"/>
          </a:xfrm>
          <a:prstGeom prst="rect">
            <a:avLst/>
          </a:prstGeom>
          <a:noFill/>
          <a:ln/>
        </p:spPr>
        <p:txBody>
          <a:bodyPr wrap="square" lIns="0" tIns="0" rIns="0" bIns="0" rtlCol="0" anchor="t"/>
          <a:lstStyle/>
          <a:p>
            <a:pPr algn="ctr" indent="0" marL="0">
              <a:buNone/>
            </a:pPr>
            <a:r>
              <a:rPr lang="en-US" sz="1100" dirty="0">
                <a:solidFill>
                  <a:srgbClr val="93C5FD"/>
                </a:solidFill>
                <a:latin typeface="Calibri" pitchFamily="34" charset="0"/>
                <a:ea typeface="Calibri" pitchFamily="34" charset="-122"/>
                <a:cs typeface="Calibri" pitchFamily="34" charset="-120"/>
              </a:rPr>
              <a:t>+10.3% F1 from TF-IDF → BERT</a:t>
            </a:r>
            <a:endParaRPr lang="en-US" sz="1100" dirty="0"/>
          </a:p>
          <a:p>
            <a:pPr algn="ctr" indent="0" marL="0">
              <a:buNone/>
            </a:pPr>
            <a:r>
              <a:rPr lang="en-US" sz="1100" dirty="0">
                <a:solidFill>
                  <a:srgbClr val="93C5FD"/>
                </a:solidFill>
                <a:latin typeface="Calibri" pitchFamily="34" charset="0"/>
                <a:ea typeface="Calibri" pitchFamily="34" charset="-122"/>
                <a:cs typeface="Calibri" pitchFamily="34" charset="-120"/>
              </a:rPr>
              <a:t>Invest in representations first</a:t>
            </a:r>
            <a:endParaRPr lang="en-US" sz="1100" dirty="0"/>
          </a:p>
        </p:txBody>
      </p:sp>
      <p:sp>
        <p:nvSpPr>
          <p:cNvPr id="16" name="Text 14"/>
          <p:cNvSpPr/>
          <p:nvPr/>
        </p:nvSpPr>
        <p:spPr>
          <a:xfrm>
            <a:off x="457200" y="2852928"/>
            <a:ext cx="8229600" cy="274320"/>
          </a:xfrm>
          <a:prstGeom prst="rect">
            <a:avLst/>
          </a:prstGeom>
          <a:noFill/>
          <a:ln/>
        </p:spPr>
        <p:txBody>
          <a:bodyPr wrap="square" rtlCol="0" anchor="ctr"/>
          <a:lstStyle/>
          <a:p>
            <a:pPr indent="0" marL="0">
              <a:buNone/>
            </a:pPr>
            <a:r>
              <a:rPr lang="en-US" sz="1100" b="1" spc="150" kern="0" dirty="0">
                <a:solidFill>
                  <a:srgbClr val="3B82F6"/>
                </a:solidFill>
                <a:latin typeface="Calibri" pitchFamily="34" charset="0"/>
                <a:ea typeface="Calibri" pitchFamily="34" charset="-122"/>
                <a:cs typeface="Calibri" pitchFamily="34" charset="-120"/>
              </a:rPr>
              <a:t>DEPLOYMENT RECOMMENDATIONS</a:t>
            </a:r>
            <a:endParaRPr lang="en-US" sz="1100" dirty="0"/>
          </a:p>
        </p:txBody>
      </p:sp>
      <p:sp>
        <p:nvSpPr>
          <p:cNvPr id="17" name="Text 15"/>
          <p:cNvSpPr/>
          <p:nvPr/>
        </p:nvSpPr>
        <p:spPr>
          <a:xfrm>
            <a:off x="365760" y="3200400"/>
            <a:ext cx="4114800" cy="274320"/>
          </a:xfrm>
          <a:prstGeom prst="rect">
            <a:avLst/>
          </a:prstGeom>
          <a:noFill/>
          <a:ln/>
        </p:spPr>
        <p:txBody>
          <a:bodyPr wrap="square"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  High Accuracy Required:</a:t>
            </a:r>
            <a:endParaRPr lang="en-US" sz="1100" dirty="0"/>
          </a:p>
        </p:txBody>
      </p:sp>
      <p:sp>
        <p:nvSpPr>
          <p:cNvPr id="18" name="Text 16"/>
          <p:cNvSpPr/>
          <p:nvPr/>
        </p:nvSpPr>
        <p:spPr>
          <a:xfrm>
            <a:off x="365760" y="3474720"/>
            <a:ext cx="41148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RoBERTa / ALBERT + BERT embeddings</a:t>
            </a:r>
            <a:endParaRPr lang="en-US" sz="1050" dirty="0"/>
          </a:p>
        </p:txBody>
      </p:sp>
      <p:sp>
        <p:nvSpPr>
          <p:cNvPr id="19" name="Text 17"/>
          <p:cNvSpPr/>
          <p:nvPr/>
        </p:nvSpPr>
        <p:spPr>
          <a:xfrm>
            <a:off x="4754880" y="3200400"/>
            <a:ext cx="4114800" cy="274320"/>
          </a:xfrm>
          <a:prstGeom prst="rect">
            <a:avLst/>
          </a:prstGeom>
          <a:noFill/>
          <a:ln/>
        </p:spPr>
        <p:txBody>
          <a:bodyPr wrap="square"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  Compute-Constrained:</a:t>
            </a:r>
            <a:endParaRPr lang="en-US" sz="1100" dirty="0"/>
          </a:p>
        </p:txBody>
      </p:sp>
      <p:sp>
        <p:nvSpPr>
          <p:cNvPr id="20" name="Text 18"/>
          <p:cNvSpPr/>
          <p:nvPr/>
        </p:nvSpPr>
        <p:spPr>
          <a:xfrm>
            <a:off x="4754880" y="3474720"/>
            <a:ext cx="41148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Linear SVM + TF-IDF (50K features)</a:t>
            </a:r>
            <a:endParaRPr lang="en-US" sz="1050" dirty="0"/>
          </a:p>
        </p:txBody>
      </p:sp>
      <p:sp>
        <p:nvSpPr>
          <p:cNvPr id="21" name="Text 19"/>
          <p:cNvSpPr/>
          <p:nvPr/>
        </p:nvSpPr>
        <p:spPr>
          <a:xfrm>
            <a:off x="365760" y="3886200"/>
            <a:ext cx="4114800" cy="274320"/>
          </a:xfrm>
          <a:prstGeom prst="rect">
            <a:avLst/>
          </a:prstGeom>
          <a:noFill/>
          <a:ln/>
        </p:spPr>
        <p:txBody>
          <a:bodyPr wrap="square"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  Short Social Media Text:</a:t>
            </a:r>
            <a:endParaRPr lang="en-US" sz="1100" dirty="0"/>
          </a:p>
        </p:txBody>
      </p:sp>
      <p:sp>
        <p:nvSpPr>
          <p:cNvPr id="22" name="Text 20"/>
          <p:cNvSpPr/>
          <p:nvPr/>
        </p:nvSpPr>
        <p:spPr>
          <a:xfrm>
            <a:off x="365760" y="4160520"/>
            <a:ext cx="41148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BiLSTM + BERT + propagation trees</a:t>
            </a:r>
            <a:endParaRPr lang="en-US" sz="1050" dirty="0"/>
          </a:p>
        </p:txBody>
      </p:sp>
      <p:sp>
        <p:nvSpPr>
          <p:cNvPr id="23" name="Text 21"/>
          <p:cNvSpPr/>
          <p:nvPr/>
        </p:nvSpPr>
        <p:spPr>
          <a:xfrm>
            <a:off x="4754880" y="3886200"/>
            <a:ext cx="4114800" cy="274320"/>
          </a:xfrm>
          <a:prstGeom prst="rect">
            <a:avLst/>
          </a:prstGeom>
          <a:noFill/>
          <a:ln/>
        </p:spPr>
        <p:txBody>
          <a:bodyPr wrap="square"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  Multilingual / Scalable:</a:t>
            </a:r>
            <a:endParaRPr lang="en-US" sz="1100" dirty="0"/>
          </a:p>
        </p:txBody>
      </p:sp>
      <p:sp>
        <p:nvSpPr>
          <p:cNvPr id="24" name="Text 22"/>
          <p:cNvSpPr/>
          <p:nvPr/>
        </p:nvSpPr>
        <p:spPr>
          <a:xfrm>
            <a:off x="4754880" y="4160520"/>
            <a:ext cx="41148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ALBERT (89% fewer params, same perf.)</a:t>
            </a:r>
            <a:endParaRPr lang="en-US" sz="1050" dirty="0"/>
          </a:p>
        </p:txBody>
      </p:sp>
      <p:sp>
        <p:nvSpPr>
          <p:cNvPr id="25" name="Shape 23"/>
          <p:cNvSpPr/>
          <p:nvPr/>
        </p:nvSpPr>
        <p:spPr>
          <a:xfrm>
            <a:off x="365760" y="4572000"/>
            <a:ext cx="8412480" cy="365760"/>
          </a:xfrm>
          <a:prstGeom prst="rect">
            <a:avLst/>
          </a:prstGeom>
          <a:solidFill>
            <a:srgbClr val="0A1628"/>
          </a:solidFill>
          <a:ln w="10160">
            <a:solidFill>
              <a:srgbClr val="1D4ED8"/>
            </a:solidFill>
            <a:prstDash val="solid"/>
          </a:ln>
        </p:spPr>
      </p:sp>
      <p:sp>
        <p:nvSpPr>
          <p:cNvPr id="26" name="Text 24"/>
          <p:cNvSpPr/>
          <p:nvPr/>
        </p:nvSpPr>
        <p:spPr>
          <a:xfrm>
            <a:off x="457200" y="4608576"/>
            <a:ext cx="8229600" cy="310896"/>
          </a:xfrm>
          <a:prstGeom prst="rect">
            <a:avLst/>
          </a:prstGeom>
          <a:noFill/>
          <a:ln/>
        </p:spPr>
        <p:txBody>
          <a:bodyPr wrap="square" rtlCol="0" anchor="ctr"/>
          <a:lstStyle/>
          <a:p>
            <a:pPr indent="0" marL="0">
              <a:buNone/>
            </a:pPr>
            <a:r>
              <a:rPr lang="en-US" sz="950" i="1" dirty="0">
                <a:solidFill>
                  <a:srgbClr val="93C5FD"/>
                </a:solidFill>
                <a:latin typeface="Calibri" pitchFamily="34" charset="0"/>
                <a:ea typeface="Calibri" pitchFamily="34" charset="-122"/>
                <a:cs typeface="Calibri" pitchFamily="34" charset="-120"/>
              </a:rPr>
              <a:t>Future Scope:  Multimodal detection (text + image)  ·  Graph propagation trees for Twitter  ·  Multilingual BERT fine-tuning  ·  Larger transformer variants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 Using ML and DL</dc:title>
  <dc:subject>PptxGenJS Presentation</dc:subject>
  <dc:creator>Manan Gupta &amp; Deepanshu</dc:creator>
  <cp:lastModifiedBy>Manan Gupta &amp; Deepanshu</cp:lastModifiedBy>
  <cp:revision>1</cp:revision>
  <dcterms:created xsi:type="dcterms:W3CDTF">2026-04-24T07:06:12Z</dcterms:created>
  <dcterms:modified xsi:type="dcterms:W3CDTF">2026-04-24T07:06:12Z</dcterms:modified>
</cp:coreProperties>
</file>